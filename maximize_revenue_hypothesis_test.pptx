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sldIdLst>
    <p:sldId id="256" r:id="rId2"/>
    <p:sldId id="257" r:id="rId3"/>
    <p:sldId id="258" r:id="rId4"/>
    <p:sldId id="260" r:id="rId5"/>
    <p:sldId id="259" r:id="rId6"/>
    <p:sldId id="261" r:id="rId7"/>
    <p:sldId id="262" r:id="rId8"/>
    <p:sldId id="263" r:id="rId9"/>
    <p:sldId id="265" r:id="rId10"/>
    <p:sldId id="266" r:id="rId11"/>
    <p:sldId id="264" r:id="rId12"/>
    <p:sldId id="268"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84"/>
    <p:restoredTop sz="94718"/>
  </p:normalViewPr>
  <p:slideViewPr>
    <p:cSldViewPr snapToGrid="0">
      <p:cViewPr varScale="1">
        <p:scale>
          <a:sx n="78" d="100"/>
          <a:sy n="78" d="100"/>
        </p:scale>
        <p:origin x="176" y="10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DCF84E-A5C9-470E-AF56-A1416E31832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F619C72A-D40A-416B-BF22-009CF211D852}">
      <dgm:prSet/>
      <dgm:spPr/>
      <dgm:t>
        <a:bodyPr/>
        <a:lstStyle/>
        <a:p>
          <a:r>
            <a:rPr lang="en-US"/>
            <a:t>Problem Statement</a:t>
          </a:r>
        </a:p>
      </dgm:t>
    </dgm:pt>
    <dgm:pt modelId="{5B1EB512-C21D-4EEA-85EC-40502581DF8F}" type="parTrans" cxnId="{C888CE84-A757-476A-98E0-4ACD718303D0}">
      <dgm:prSet/>
      <dgm:spPr/>
      <dgm:t>
        <a:bodyPr/>
        <a:lstStyle/>
        <a:p>
          <a:endParaRPr lang="en-US"/>
        </a:p>
      </dgm:t>
    </dgm:pt>
    <dgm:pt modelId="{C7536D24-D6AA-408B-A884-53E3EA195CAC}" type="sibTrans" cxnId="{C888CE84-A757-476A-98E0-4ACD718303D0}">
      <dgm:prSet/>
      <dgm:spPr/>
      <dgm:t>
        <a:bodyPr/>
        <a:lstStyle/>
        <a:p>
          <a:endParaRPr lang="en-US"/>
        </a:p>
      </dgm:t>
    </dgm:pt>
    <dgm:pt modelId="{F622FA45-E9B8-40BD-B41F-A4EEC47D42DB}">
      <dgm:prSet/>
      <dgm:spPr/>
      <dgm:t>
        <a:bodyPr/>
        <a:lstStyle/>
        <a:p>
          <a:r>
            <a:rPr lang="en-US"/>
            <a:t>Research Question </a:t>
          </a:r>
        </a:p>
      </dgm:t>
    </dgm:pt>
    <dgm:pt modelId="{A41C9949-B500-4503-B455-BC04E5FFE679}" type="parTrans" cxnId="{FF4B7C68-03D0-4C1F-993E-55A2ECBA6FE8}">
      <dgm:prSet/>
      <dgm:spPr/>
      <dgm:t>
        <a:bodyPr/>
        <a:lstStyle/>
        <a:p>
          <a:endParaRPr lang="en-US"/>
        </a:p>
      </dgm:t>
    </dgm:pt>
    <dgm:pt modelId="{5F3AF27F-C2EF-46CB-AEBE-FEB6DE0968D8}" type="sibTrans" cxnId="{FF4B7C68-03D0-4C1F-993E-55A2ECBA6FE8}">
      <dgm:prSet/>
      <dgm:spPr/>
      <dgm:t>
        <a:bodyPr/>
        <a:lstStyle/>
        <a:p>
          <a:endParaRPr lang="en-US"/>
        </a:p>
      </dgm:t>
    </dgm:pt>
    <dgm:pt modelId="{50943CB5-F7F8-40A0-B296-7F5F1009FD62}">
      <dgm:prSet/>
      <dgm:spPr/>
      <dgm:t>
        <a:bodyPr/>
        <a:lstStyle/>
        <a:p>
          <a:r>
            <a:rPr lang="en-US"/>
            <a:t>Data Overview</a:t>
          </a:r>
        </a:p>
      </dgm:t>
    </dgm:pt>
    <dgm:pt modelId="{C944C1E6-B174-4642-B7DB-52E930C3DA1D}" type="parTrans" cxnId="{423A9A94-2C0A-45A9-A93F-6CFEAAB13DE7}">
      <dgm:prSet/>
      <dgm:spPr/>
      <dgm:t>
        <a:bodyPr/>
        <a:lstStyle/>
        <a:p>
          <a:endParaRPr lang="en-US"/>
        </a:p>
      </dgm:t>
    </dgm:pt>
    <dgm:pt modelId="{9433259D-08A5-4276-8FD9-37C86F0D94D6}" type="sibTrans" cxnId="{423A9A94-2C0A-45A9-A93F-6CFEAAB13DE7}">
      <dgm:prSet/>
      <dgm:spPr/>
      <dgm:t>
        <a:bodyPr/>
        <a:lstStyle/>
        <a:p>
          <a:endParaRPr lang="en-US"/>
        </a:p>
      </dgm:t>
    </dgm:pt>
    <dgm:pt modelId="{9016EF15-6A11-4AA3-B96F-76798C5B588E}">
      <dgm:prSet/>
      <dgm:spPr/>
      <dgm:t>
        <a:bodyPr/>
        <a:lstStyle/>
        <a:p>
          <a:r>
            <a:rPr lang="en-US"/>
            <a:t>Methodology </a:t>
          </a:r>
        </a:p>
      </dgm:t>
    </dgm:pt>
    <dgm:pt modelId="{CA8E3327-CB22-417F-8469-65781E4A4D25}" type="parTrans" cxnId="{102A3F58-61F5-4346-A720-8E30FD992AD6}">
      <dgm:prSet/>
      <dgm:spPr/>
      <dgm:t>
        <a:bodyPr/>
        <a:lstStyle/>
        <a:p>
          <a:endParaRPr lang="en-US"/>
        </a:p>
      </dgm:t>
    </dgm:pt>
    <dgm:pt modelId="{B2C91782-7C5D-4885-8686-96D34FFC4C6F}" type="sibTrans" cxnId="{102A3F58-61F5-4346-A720-8E30FD992AD6}">
      <dgm:prSet/>
      <dgm:spPr/>
      <dgm:t>
        <a:bodyPr/>
        <a:lstStyle/>
        <a:p>
          <a:endParaRPr lang="en-US"/>
        </a:p>
      </dgm:t>
    </dgm:pt>
    <dgm:pt modelId="{E35FAE07-C173-4343-A082-B0AA911DC538}">
      <dgm:prSet/>
      <dgm:spPr/>
      <dgm:t>
        <a:bodyPr/>
        <a:lstStyle/>
        <a:p>
          <a:r>
            <a:rPr lang="en-US"/>
            <a:t>Analysis and Findings </a:t>
          </a:r>
        </a:p>
      </dgm:t>
    </dgm:pt>
    <dgm:pt modelId="{973727A7-8E27-47A8-8507-8D11E9820FBF}" type="parTrans" cxnId="{2D36B7E8-A21F-4768-9572-468B96768B4D}">
      <dgm:prSet/>
      <dgm:spPr/>
      <dgm:t>
        <a:bodyPr/>
        <a:lstStyle/>
        <a:p>
          <a:endParaRPr lang="en-US"/>
        </a:p>
      </dgm:t>
    </dgm:pt>
    <dgm:pt modelId="{E71F9D25-9510-40DE-8957-AAA5DFE05BB0}" type="sibTrans" cxnId="{2D36B7E8-A21F-4768-9572-468B96768B4D}">
      <dgm:prSet/>
      <dgm:spPr/>
      <dgm:t>
        <a:bodyPr/>
        <a:lstStyle/>
        <a:p>
          <a:endParaRPr lang="en-US"/>
        </a:p>
      </dgm:t>
    </dgm:pt>
    <dgm:pt modelId="{63F873C2-B5AE-4130-A69F-2628F44EDAE1}">
      <dgm:prSet/>
      <dgm:spPr/>
      <dgm:t>
        <a:bodyPr/>
        <a:lstStyle/>
        <a:p>
          <a:r>
            <a:rPr lang="en-US"/>
            <a:t>Hypothesis Testing </a:t>
          </a:r>
        </a:p>
      </dgm:t>
    </dgm:pt>
    <dgm:pt modelId="{5B3304FD-E00D-4552-90D9-5A9CB092F705}" type="parTrans" cxnId="{BE137101-178C-40AF-A16E-82F1925A6B57}">
      <dgm:prSet/>
      <dgm:spPr/>
      <dgm:t>
        <a:bodyPr/>
        <a:lstStyle/>
        <a:p>
          <a:endParaRPr lang="en-US"/>
        </a:p>
      </dgm:t>
    </dgm:pt>
    <dgm:pt modelId="{26F0D539-1C8F-4054-B237-E67FE86182DA}" type="sibTrans" cxnId="{BE137101-178C-40AF-A16E-82F1925A6B57}">
      <dgm:prSet/>
      <dgm:spPr/>
      <dgm:t>
        <a:bodyPr/>
        <a:lstStyle/>
        <a:p>
          <a:endParaRPr lang="en-US"/>
        </a:p>
      </dgm:t>
    </dgm:pt>
    <dgm:pt modelId="{330E0CB7-A7CB-4F51-94A8-9D5C3A6205A1}">
      <dgm:prSet/>
      <dgm:spPr/>
      <dgm:t>
        <a:bodyPr/>
        <a:lstStyle/>
        <a:p>
          <a:r>
            <a:rPr lang="en-US"/>
            <a:t>Recommendations </a:t>
          </a:r>
        </a:p>
      </dgm:t>
    </dgm:pt>
    <dgm:pt modelId="{6E22101A-108B-4AF3-AE23-4A64D064112C}" type="parTrans" cxnId="{914255B0-3125-44C4-B573-870FA99ACF5D}">
      <dgm:prSet/>
      <dgm:spPr/>
      <dgm:t>
        <a:bodyPr/>
        <a:lstStyle/>
        <a:p>
          <a:endParaRPr lang="en-US"/>
        </a:p>
      </dgm:t>
    </dgm:pt>
    <dgm:pt modelId="{71D47E40-CE39-482B-8B26-2CC5138A5385}" type="sibTrans" cxnId="{914255B0-3125-44C4-B573-870FA99ACF5D}">
      <dgm:prSet/>
      <dgm:spPr/>
      <dgm:t>
        <a:bodyPr/>
        <a:lstStyle/>
        <a:p>
          <a:endParaRPr lang="en-US"/>
        </a:p>
      </dgm:t>
    </dgm:pt>
    <dgm:pt modelId="{ED20E6B1-A8B6-5E4B-B922-4EF14F7048C3}" type="pres">
      <dgm:prSet presAssocID="{56DCF84E-A5C9-470E-AF56-A1416E31832C}" presName="vert0" presStyleCnt="0">
        <dgm:presLayoutVars>
          <dgm:dir/>
          <dgm:animOne val="branch"/>
          <dgm:animLvl val="lvl"/>
        </dgm:presLayoutVars>
      </dgm:prSet>
      <dgm:spPr/>
    </dgm:pt>
    <dgm:pt modelId="{99D224AC-14A8-6141-85A4-FA62AB8EDC1D}" type="pres">
      <dgm:prSet presAssocID="{F619C72A-D40A-416B-BF22-009CF211D852}" presName="thickLine" presStyleLbl="alignNode1" presStyleIdx="0" presStyleCnt="7"/>
      <dgm:spPr/>
    </dgm:pt>
    <dgm:pt modelId="{623C04F7-0A17-374C-8A31-7E539E7A96C8}" type="pres">
      <dgm:prSet presAssocID="{F619C72A-D40A-416B-BF22-009CF211D852}" presName="horz1" presStyleCnt="0"/>
      <dgm:spPr/>
    </dgm:pt>
    <dgm:pt modelId="{9AB92615-6B5A-3E45-9414-346B947B9411}" type="pres">
      <dgm:prSet presAssocID="{F619C72A-D40A-416B-BF22-009CF211D852}" presName="tx1" presStyleLbl="revTx" presStyleIdx="0" presStyleCnt="7"/>
      <dgm:spPr/>
    </dgm:pt>
    <dgm:pt modelId="{C9EFB037-9504-CE45-B7C4-03A7B221C34F}" type="pres">
      <dgm:prSet presAssocID="{F619C72A-D40A-416B-BF22-009CF211D852}" presName="vert1" presStyleCnt="0"/>
      <dgm:spPr/>
    </dgm:pt>
    <dgm:pt modelId="{A1DA02CA-6AA6-1641-90A3-99713E67181D}" type="pres">
      <dgm:prSet presAssocID="{F622FA45-E9B8-40BD-B41F-A4EEC47D42DB}" presName="thickLine" presStyleLbl="alignNode1" presStyleIdx="1" presStyleCnt="7"/>
      <dgm:spPr/>
    </dgm:pt>
    <dgm:pt modelId="{1F6B0757-27DC-5149-ADA0-410E3C3227B4}" type="pres">
      <dgm:prSet presAssocID="{F622FA45-E9B8-40BD-B41F-A4EEC47D42DB}" presName="horz1" presStyleCnt="0"/>
      <dgm:spPr/>
    </dgm:pt>
    <dgm:pt modelId="{4AEFEC45-BC36-9644-905B-3DDE6A7AC911}" type="pres">
      <dgm:prSet presAssocID="{F622FA45-E9B8-40BD-B41F-A4EEC47D42DB}" presName="tx1" presStyleLbl="revTx" presStyleIdx="1" presStyleCnt="7"/>
      <dgm:spPr/>
    </dgm:pt>
    <dgm:pt modelId="{C37227B5-A0C8-214E-B64A-584A5C383519}" type="pres">
      <dgm:prSet presAssocID="{F622FA45-E9B8-40BD-B41F-A4EEC47D42DB}" presName="vert1" presStyleCnt="0"/>
      <dgm:spPr/>
    </dgm:pt>
    <dgm:pt modelId="{772C2CF6-0FED-1845-A9D0-33A308F8360D}" type="pres">
      <dgm:prSet presAssocID="{50943CB5-F7F8-40A0-B296-7F5F1009FD62}" presName="thickLine" presStyleLbl="alignNode1" presStyleIdx="2" presStyleCnt="7"/>
      <dgm:spPr/>
    </dgm:pt>
    <dgm:pt modelId="{1D6EB893-E9DA-CB43-9F3B-5CEC50563E9F}" type="pres">
      <dgm:prSet presAssocID="{50943CB5-F7F8-40A0-B296-7F5F1009FD62}" presName="horz1" presStyleCnt="0"/>
      <dgm:spPr/>
    </dgm:pt>
    <dgm:pt modelId="{0DCD26EE-847E-0640-9D9C-A39C4238B484}" type="pres">
      <dgm:prSet presAssocID="{50943CB5-F7F8-40A0-B296-7F5F1009FD62}" presName="tx1" presStyleLbl="revTx" presStyleIdx="2" presStyleCnt="7"/>
      <dgm:spPr/>
    </dgm:pt>
    <dgm:pt modelId="{ED7AD0AA-1B49-D344-8980-6A195E768620}" type="pres">
      <dgm:prSet presAssocID="{50943CB5-F7F8-40A0-B296-7F5F1009FD62}" presName="vert1" presStyleCnt="0"/>
      <dgm:spPr/>
    </dgm:pt>
    <dgm:pt modelId="{C378C931-B06E-3240-AE20-195553DFABF0}" type="pres">
      <dgm:prSet presAssocID="{9016EF15-6A11-4AA3-B96F-76798C5B588E}" presName="thickLine" presStyleLbl="alignNode1" presStyleIdx="3" presStyleCnt="7"/>
      <dgm:spPr/>
    </dgm:pt>
    <dgm:pt modelId="{E08ABA6E-2A4E-8C44-B276-E28EB5815A96}" type="pres">
      <dgm:prSet presAssocID="{9016EF15-6A11-4AA3-B96F-76798C5B588E}" presName="horz1" presStyleCnt="0"/>
      <dgm:spPr/>
    </dgm:pt>
    <dgm:pt modelId="{49BE1713-44F9-D146-A79F-5058BC9E59F8}" type="pres">
      <dgm:prSet presAssocID="{9016EF15-6A11-4AA3-B96F-76798C5B588E}" presName="tx1" presStyleLbl="revTx" presStyleIdx="3" presStyleCnt="7"/>
      <dgm:spPr/>
    </dgm:pt>
    <dgm:pt modelId="{0EDAD982-9658-7744-B373-4AC1045F4877}" type="pres">
      <dgm:prSet presAssocID="{9016EF15-6A11-4AA3-B96F-76798C5B588E}" presName="vert1" presStyleCnt="0"/>
      <dgm:spPr/>
    </dgm:pt>
    <dgm:pt modelId="{A3FB94E8-940E-A74D-A102-6A1172571521}" type="pres">
      <dgm:prSet presAssocID="{E35FAE07-C173-4343-A082-B0AA911DC538}" presName="thickLine" presStyleLbl="alignNode1" presStyleIdx="4" presStyleCnt="7"/>
      <dgm:spPr/>
    </dgm:pt>
    <dgm:pt modelId="{533E2CB0-D81E-6349-A637-94E73B09FC0D}" type="pres">
      <dgm:prSet presAssocID="{E35FAE07-C173-4343-A082-B0AA911DC538}" presName="horz1" presStyleCnt="0"/>
      <dgm:spPr/>
    </dgm:pt>
    <dgm:pt modelId="{DDD82C76-BBC4-1545-8BB2-DFBEBFC15E65}" type="pres">
      <dgm:prSet presAssocID="{E35FAE07-C173-4343-A082-B0AA911DC538}" presName="tx1" presStyleLbl="revTx" presStyleIdx="4" presStyleCnt="7"/>
      <dgm:spPr/>
    </dgm:pt>
    <dgm:pt modelId="{ECA0A45F-6E78-CA45-94FD-74533478AD95}" type="pres">
      <dgm:prSet presAssocID="{E35FAE07-C173-4343-A082-B0AA911DC538}" presName="vert1" presStyleCnt="0"/>
      <dgm:spPr/>
    </dgm:pt>
    <dgm:pt modelId="{010C065D-D2CE-5E47-AF0E-9B0869CC2DAB}" type="pres">
      <dgm:prSet presAssocID="{63F873C2-B5AE-4130-A69F-2628F44EDAE1}" presName="thickLine" presStyleLbl="alignNode1" presStyleIdx="5" presStyleCnt="7"/>
      <dgm:spPr/>
    </dgm:pt>
    <dgm:pt modelId="{5FA3DC13-B9B8-BF48-BA60-D1EDAFB0A447}" type="pres">
      <dgm:prSet presAssocID="{63F873C2-B5AE-4130-A69F-2628F44EDAE1}" presName="horz1" presStyleCnt="0"/>
      <dgm:spPr/>
    </dgm:pt>
    <dgm:pt modelId="{74FE1C8D-84B7-AE43-8177-46011A39F484}" type="pres">
      <dgm:prSet presAssocID="{63F873C2-B5AE-4130-A69F-2628F44EDAE1}" presName="tx1" presStyleLbl="revTx" presStyleIdx="5" presStyleCnt="7"/>
      <dgm:spPr/>
    </dgm:pt>
    <dgm:pt modelId="{5BE035E2-709C-2442-815A-DA5EBD21F1DD}" type="pres">
      <dgm:prSet presAssocID="{63F873C2-B5AE-4130-A69F-2628F44EDAE1}" presName="vert1" presStyleCnt="0"/>
      <dgm:spPr/>
    </dgm:pt>
    <dgm:pt modelId="{6060CE3F-233E-6E40-AFCA-D174BAFB4890}" type="pres">
      <dgm:prSet presAssocID="{330E0CB7-A7CB-4F51-94A8-9D5C3A6205A1}" presName="thickLine" presStyleLbl="alignNode1" presStyleIdx="6" presStyleCnt="7"/>
      <dgm:spPr/>
    </dgm:pt>
    <dgm:pt modelId="{DFC79AA2-F9BB-CC4D-B01B-0717955A816A}" type="pres">
      <dgm:prSet presAssocID="{330E0CB7-A7CB-4F51-94A8-9D5C3A6205A1}" presName="horz1" presStyleCnt="0"/>
      <dgm:spPr/>
    </dgm:pt>
    <dgm:pt modelId="{028660E9-536F-804C-B47C-9357299B8E98}" type="pres">
      <dgm:prSet presAssocID="{330E0CB7-A7CB-4F51-94A8-9D5C3A6205A1}" presName="tx1" presStyleLbl="revTx" presStyleIdx="6" presStyleCnt="7"/>
      <dgm:spPr/>
    </dgm:pt>
    <dgm:pt modelId="{56ED3578-FFB0-B54B-883A-960F7FB4645E}" type="pres">
      <dgm:prSet presAssocID="{330E0CB7-A7CB-4F51-94A8-9D5C3A6205A1}" presName="vert1" presStyleCnt="0"/>
      <dgm:spPr/>
    </dgm:pt>
  </dgm:ptLst>
  <dgm:cxnLst>
    <dgm:cxn modelId="{BE137101-178C-40AF-A16E-82F1925A6B57}" srcId="{56DCF84E-A5C9-470E-AF56-A1416E31832C}" destId="{63F873C2-B5AE-4130-A69F-2628F44EDAE1}" srcOrd="5" destOrd="0" parTransId="{5B3304FD-E00D-4552-90D9-5A9CB092F705}" sibTransId="{26F0D539-1C8F-4054-B237-E67FE86182DA}"/>
    <dgm:cxn modelId="{48C11D14-929A-2D4F-BC1A-861E75B9437A}" type="presOf" srcId="{9016EF15-6A11-4AA3-B96F-76798C5B588E}" destId="{49BE1713-44F9-D146-A79F-5058BC9E59F8}" srcOrd="0" destOrd="0" presId="urn:microsoft.com/office/officeart/2008/layout/LinedList"/>
    <dgm:cxn modelId="{4FBF3F1E-28AF-204A-B518-744B9655A158}" type="presOf" srcId="{330E0CB7-A7CB-4F51-94A8-9D5C3A6205A1}" destId="{028660E9-536F-804C-B47C-9357299B8E98}" srcOrd="0" destOrd="0" presId="urn:microsoft.com/office/officeart/2008/layout/LinedList"/>
    <dgm:cxn modelId="{439E784B-DEB2-D64E-9885-A5277B2C7CA9}" type="presOf" srcId="{F622FA45-E9B8-40BD-B41F-A4EEC47D42DB}" destId="{4AEFEC45-BC36-9644-905B-3DDE6A7AC911}" srcOrd="0" destOrd="0" presId="urn:microsoft.com/office/officeart/2008/layout/LinedList"/>
    <dgm:cxn modelId="{102A3F58-61F5-4346-A720-8E30FD992AD6}" srcId="{56DCF84E-A5C9-470E-AF56-A1416E31832C}" destId="{9016EF15-6A11-4AA3-B96F-76798C5B588E}" srcOrd="3" destOrd="0" parTransId="{CA8E3327-CB22-417F-8469-65781E4A4D25}" sibTransId="{B2C91782-7C5D-4885-8686-96D34FFC4C6F}"/>
    <dgm:cxn modelId="{FF4B7C68-03D0-4C1F-993E-55A2ECBA6FE8}" srcId="{56DCF84E-A5C9-470E-AF56-A1416E31832C}" destId="{F622FA45-E9B8-40BD-B41F-A4EEC47D42DB}" srcOrd="1" destOrd="0" parTransId="{A41C9949-B500-4503-B455-BC04E5FFE679}" sibTransId="{5F3AF27F-C2EF-46CB-AEBE-FEB6DE0968D8}"/>
    <dgm:cxn modelId="{E0252A6E-5EEE-914F-BE72-56BE550ABBE4}" type="presOf" srcId="{63F873C2-B5AE-4130-A69F-2628F44EDAE1}" destId="{74FE1C8D-84B7-AE43-8177-46011A39F484}" srcOrd="0" destOrd="0" presId="urn:microsoft.com/office/officeart/2008/layout/LinedList"/>
    <dgm:cxn modelId="{C888CE84-A757-476A-98E0-4ACD718303D0}" srcId="{56DCF84E-A5C9-470E-AF56-A1416E31832C}" destId="{F619C72A-D40A-416B-BF22-009CF211D852}" srcOrd="0" destOrd="0" parTransId="{5B1EB512-C21D-4EEA-85EC-40502581DF8F}" sibTransId="{C7536D24-D6AA-408B-A884-53E3EA195CAC}"/>
    <dgm:cxn modelId="{423A9A94-2C0A-45A9-A93F-6CFEAAB13DE7}" srcId="{56DCF84E-A5C9-470E-AF56-A1416E31832C}" destId="{50943CB5-F7F8-40A0-B296-7F5F1009FD62}" srcOrd="2" destOrd="0" parTransId="{C944C1E6-B174-4642-B7DB-52E930C3DA1D}" sibTransId="{9433259D-08A5-4276-8FD9-37C86F0D94D6}"/>
    <dgm:cxn modelId="{717EDE9C-AB04-7740-901E-AE6F845C6C7C}" type="presOf" srcId="{56DCF84E-A5C9-470E-AF56-A1416E31832C}" destId="{ED20E6B1-A8B6-5E4B-B922-4EF14F7048C3}" srcOrd="0" destOrd="0" presId="urn:microsoft.com/office/officeart/2008/layout/LinedList"/>
    <dgm:cxn modelId="{914255B0-3125-44C4-B573-870FA99ACF5D}" srcId="{56DCF84E-A5C9-470E-AF56-A1416E31832C}" destId="{330E0CB7-A7CB-4F51-94A8-9D5C3A6205A1}" srcOrd="6" destOrd="0" parTransId="{6E22101A-108B-4AF3-AE23-4A64D064112C}" sibTransId="{71D47E40-CE39-482B-8B26-2CC5138A5385}"/>
    <dgm:cxn modelId="{FD7565B2-10CF-7C46-A36C-99925A9CEC6E}" type="presOf" srcId="{E35FAE07-C173-4343-A082-B0AA911DC538}" destId="{DDD82C76-BBC4-1545-8BB2-DFBEBFC15E65}" srcOrd="0" destOrd="0" presId="urn:microsoft.com/office/officeart/2008/layout/LinedList"/>
    <dgm:cxn modelId="{977B1CCF-A32F-4945-A686-1AA7263812F4}" type="presOf" srcId="{50943CB5-F7F8-40A0-B296-7F5F1009FD62}" destId="{0DCD26EE-847E-0640-9D9C-A39C4238B484}" srcOrd="0" destOrd="0" presId="urn:microsoft.com/office/officeart/2008/layout/LinedList"/>
    <dgm:cxn modelId="{41CA5CDE-BF3A-DF40-BFC8-9375BFC49F55}" type="presOf" srcId="{F619C72A-D40A-416B-BF22-009CF211D852}" destId="{9AB92615-6B5A-3E45-9414-346B947B9411}" srcOrd="0" destOrd="0" presId="urn:microsoft.com/office/officeart/2008/layout/LinedList"/>
    <dgm:cxn modelId="{2D36B7E8-A21F-4768-9572-468B96768B4D}" srcId="{56DCF84E-A5C9-470E-AF56-A1416E31832C}" destId="{E35FAE07-C173-4343-A082-B0AA911DC538}" srcOrd="4" destOrd="0" parTransId="{973727A7-8E27-47A8-8507-8D11E9820FBF}" sibTransId="{E71F9D25-9510-40DE-8957-AAA5DFE05BB0}"/>
    <dgm:cxn modelId="{654EA86F-5836-CD4B-8E35-6F16494CF45D}" type="presParOf" srcId="{ED20E6B1-A8B6-5E4B-B922-4EF14F7048C3}" destId="{99D224AC-14A8-6141-85A4-FA62AB8EDC1D}" srcOrd="0" destOrd="0" presId="urn:microsoft.com/office/officeart/2008/layout/LinedList"/>
    <dgm:cxn modelId="{132BA9F6-F841-2F4C-BD56-0696EA15930C}" type="presParOf" srcId="{ED20E6B1-A8B6-5E4B-B922-4EF14F7048C3}" destId="{623C04F7-0A17-374C-8A31-7E539E7A96C8}" srcOrd="1" destOrd="0" presId="urn:microsoft.com/office/officeart/2008/layout/LinedList"/>
    <dgm:cxn modelId="{0CED65EF-CA05-DC4B-89FE-0CF0EFBBF253}" type="presParOf" srcId="{623C04F7-0A17-374C-8A31-7E539E7A96C8}" destId="{9AB92615-6B5A-3E45-9414-346B947B9411}" srcOrd="0" destOrd="0" presId="urn:microsoft.com/office/officeart/2008/layout/LinedList"/>
    <dgm:cxn modelId="{A0116839-334F-DC4E-98A9-2F7E33334463}" type="presParOf" srcId="{623C04F7-0A17-374C-8A31-7E539E7A96C8}" destId="{C9EFB037-9504-CE45-B7C4-03A7B221C34F}" srcOrd="1" destOrd="0" presId="urn:microsoft.com/office/officeart/2008/layout/LinedList"/>
    <dgm:cxn modelId="{9F77DD5F-1253-8C41-A89B-9BEA72C7FC13}" type="presParOf" srcId="{ED20E6B1-A8B6-5E4B-B922-4EF14F7048C3}" destId="{A1DA02CA-6AA6-1641-90A3-99713E67181D}" srcOrd="2" destOrd="0" presId="urn:microsoft.com/office/officeart/2008/layout/LinedList"/>
    <dgm:cxn modelId="{978A5203-5303-3D47-8EA1-733C19D86D7B}" type="presParOf" srcId="{ED20E6B1-A8B6-5E4B-B922-4EF14F7048C3}" destId="{1F6B0757-27DC-5149-ADA0-410E3C3227B4}" srcOrd="3" destOrd="0" presId="urn:microsoft.com/office/officeart/2008/layout/LinedList"/>
    <dgm:cxn modelId="{0F137C49-EAEA-A44F-8083-259ED47CCA15}" type="presParOf" srcId="{1F6B0757-27DC-5149-ADA0-410E3C3227B4}" destId="{4AEFEC45-BC36-9644-905B-3DDE6A7AC911}" srcOrd="0" destOrd="0" presId="urn:microsoft.com/office/officeart/2008/layout/LinedList"/>
    <dgm:cxn modelId="{07C9ED2F-60AA-6A40-B12A-E2A392293ABE}" type="presParOf" srcId="{1F6B0757-27DC-5149-ADA0-410E3C3227B4}" destId="{C37227B5-A0C8-214E-B64A-584A5C383519}" srcOrd="1" destOrd="0" presId="urn:microsoft.com/office/officeart/2008/layout/LinedList"/>
    <dgm:cxn modelId="{1E3327C7-C8A1-904F-9EAE-348F71318A71}" type="presParOf" srcId="{ED20E6B1-A8B6-5E4B-B922-4EF14F7048C3}" destId="{772C2CF6-0FED-1845-A9D0-33A308F8360D}" srcOrd="4" destOrd="0" presId="urn:microsoft.com/office/officeart/2008/layout/LinedList"/>
    <dgm:cxn modelId="{1D46EB73-B3C6-7B48-BC1A-FA592706BB5E}" type="presParOf" srcId="{ED20E6B1-A8B6-5E4B-B922-4EF14F7048C3}" destId="{1D6EB893-E9DA-CB43-9F3B-5CEC50563E9F}" srcOrd="5" destOrd="0" presId="urn:microsoft.com/office/officeart/2008/layout/LinedList"/>
    <dgm:cxn modelId="{960339CA-6E86-DD4F-9EE5-6E7970B5273F}" type="presParOf" srcId="{1D6EB893-E9DA-CB43-9F3B-5CEC50563E9F}" destId="{0DCD26EE-847E-0640-9D9C-A39C4238B484}" srcOrd="0" destOrd="0" presId="urn:microsoft.com/office/officeart/2008/layout/LinedList"/>
    <dgm:cxn modelId="{12527554-FE9D-9543-8D69-0A51F42C4589}" type="presParOf" srcId="{1D6EB893-E9DA-CB43-9F3B-5CEC50563E9F}" destId="{ED7AD0AA-1B49-D344-8980-6A195E768620}" srcOrd="1" destOrd="0" presId="urn:microsoft.com/office/officeart/2008/layout/LinedList"/>
    <dgm:cxn modelId="{75B0C799-F3C4-6F4F-AB16-EB71456F9629}" type="presParOf" srcId="{ED20E6B1-A8B6-5E4B-B922-4EF14F7048C3}" destId="{C378C931-B06E-3240-AE20-195553DFABF0}" srcOrd="6" destOrd="0" presId="urn:microsoft.com/office/officeart/2008/layout/LinedList"/>
    <dgm:cxn modelId="{1E3A60F8-95BA-C942-A5DE-71B34BCB6C43}" type="presParOf" srcId="{ED20E6B1-A8B6-5E4B-B922-4EF14F7048C3}" destId="{E08ABA6E-2A4E-8C44-B276-E28EB5815A96}" srcOrd="7" destOrd="0" presId="urn:microsoft.com/office/officeart/2008/layout/LinedList"/>
    <dgm:cxn modelId="{5FA5B03C-7015-6940-A02F-E0862E1B208B}" type="presParOf" srcId="{E08ABA6E-2A4E-8C44-B276-E28EB5815A96}" destId="{49BE1713-44F9-D146-A79F-5058BC9E59F8}" srcOrd="0" destOrd="0" presId="urn:microsoft.com/office/officeart/2008/layout/LinedList"/>
    <dgm:cxn modelId="{FD3419E9-5330-5E4C-AF32-91A6EC5705C8}" type="presParOf" srcId="{E08ABA6E-2A4E-8C44-B276-E28EB5815A96}" destId="{0EDAD982-9658-7744-B373-4AC1045F4877}" srcOrd="1" destOrd="0" presId="urn:microsoft.com/office/officeart/2008/layout/LinedList"/>
    <dgm:cxn modelId="{7F7818EB-2D96-3F48-B5E2-375CA21A34FF}" type="presParOf" srcId="{ED20E6B1-A8B6-5E4B-B922-4EF14F7048C3}" destId="{A3FB94E8-940E-A74D-A102-6A1172571521}" srcOrd="8" destOrd="0" presId="urn:microsoft.com/office/officeart/2008/layout/LinedList"/>
    <dgm:cxn modelId="{F5F9ED45-1DB3-4047-B3D0-1D712A45FC92}" type="presParOf" srcId="{ED20E6B1-A8B6-5E4B-B922-4EF14F7048C3}" destId="{533E2CB0-D81E-6349-A637-94E73B09FC0D}" srcOrd="9" destOrd="0" presId="urn:microsoft.com/office/officeart/2008/layout/LinedList"/>
    <dgm:cxn modelId="{9D47C6C3-0075-3849-BE1A-A6E8975FB6FA}" type="presParOf" srcId="{533E2CB0-D81E-6349-A637-94E73B09FC0D}" destId="{DDD82C76-BBC4-1545-8BB2-DFBEBFC15E65}" srcOrd="0" destOrd="0" presId="urn:microsoft.com/office/officeart/2008/layout/LinedList"/>
    <dgm:cxn modelId="{7533AE0A-3863-9440-9552-805E415613E7}" type="presParOf" srcId="{533E2CB0-D81E-6349-A637-94E73B09FC0D}" destId="{ECA0A45F-6E78-CA45-94FD-74533478AD95}" srcOrd="1" destOrd="0" presId="urn:microsoft.com/office/officeart/2008/layout/LinedList"/>
    <dgm:cxn modelId="{A8CD39A3-5E24-7746-A239-58177E10DD5E}" type="presParOf" srcId="{ED20E6B1-A8B6-5E4B-B922-4EF14F7048C3}" destId="{010C065D-D2CE-5E47-AF0E-9B0869CC2DAB}" srcOrd="10" destOrd="0" presId="urn:microsoft.com/office/officeart/2008/layout/LinedList"/>
    <dgm:cxn modelId="{755E6B77-4304-8D4E-A9F8-9FC786DFA6D1}" type="presParOf" srcId="{ED20E6B1-A8B6-5E4B-B922-4EF14F7048C3}" destId="{5FA3DC13-B9B8-BF48-BA60-D1EDAFB0A447}" srcOrd="11" destOrd="0" presId="urn:microsoft.com/office/officeart/2008/layout/LinedList"/>
    <dgm:cxn modelId="{E6448F25-B7D8-DD46-B1ED-40CE1DA308B6}" type="presParOf" srcId="{5FA3DC13-B9B8-BF48-BA60-D1EDAFB0A447}" destId="{74FE1C8D-84B7-AE43-8177-46011A39F484}" srcOrd="0" destOrd="0" presId="urn:microsoft.com/office/officeart/2008/layout/LinedList"/>
    <dgm:cxn modelId="{7E92C406-2DC1-8246-B58D-998F3044A65B}" type="presParOf" srcId="{5FA3DC13-B9B8-BF48-BA60-D1EDAFB0A447}" destId="{5BE035E2-709C-2442-815A-DA5EBD21F1DD}" srcOrd="1" destOrd="0" presId="urn:microsoft.com/office/officeart/2008/layout/LinedList"/>
    <dgm:cxn modelId="{96F0C6FC-FDF3-B948-90FC-664D25CD9633}" type="presParOf" srcId="{ED20E6B1-A8B6-5E4B-B922-4EF14F7048C3}" destId="{6060CE3F-233E-6E40-AFCA-D174BAFB4890}" srcOrd="12" destOrd="0" presId="urn:microsoft.com/office/officeart/2008/layout/LinedList"/>
    <dgm:cxn modelId="{18EB7820-E198-7743-95F1-D0503B1EF1CE}" type="presParOf" srcId="{ED20E6B1-A8B6-5E4B-B922-4EF14F7048C3}" destId="{DFC79AA2-F9BB-CC4D-B01B-0717955A816A}" srcOrd="13" destOrd="0" presId="urn:microsoft.com/office/officeart/2008/layout/LinedList"/>
    <dgm:cxn modelId="{3CC8EC17-2320-084E-B56F-BDA170F1AD6B}" type="presParOf" srcId="{DFC79AA2-F9BB-CC4D-B01B-0717955A816A}" destId="{028660E9-536F-804C-B47C-9357299B8E98}" srcOrd="0" destOrd="0" presId="urn:microsoft.com/office/officeart/2008/layout/LinedList"/>
    <dgm:cxn modelId="{EB93DE1E-6B3A-0947-B38D-ACC2723E3EDF}" type="presParOf" srcId="{DFC79AA2-F9BB-CC4D-B01B-0717955A816A}" destId="{56ED3578-FFB0-B54B-883A-960F7FB4645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C73B8B-81AB-46F6-83C8-B6D7690DF33F}" type="doc">
      <dgm:prSet loTypeId="urn:microsoft.com/office/officeart/2016/7/layout/LinearBlockProcessNumbered" loCatId="process" qsTypeId="urn:microsoft.com/office/officeart/2005/8/quickstyle/simple1" qsCatId="simple" csTypeId="urn:microsoft.com/office/officeart/2005/8/colors/accent3_2" csCatId="accent3"/>
      <dgm:spPr/>
      <dgm:t>
        <a:bodyPr/>
        <a:lstStyle/>
        <a:p>
          <a:endParaRPr lang="en-US"/>
        </a:p>
      </dgm:t>
    </dgm:pt>
    <dgm:pt modelId="{1BCDD37E-E1BC-47AE-8CD4-6E9786B76EE9}">
      <dgm:prSet/>
      <dgm:spPr/>
      <dgm:t>
        <a:bodyPr/>
        <a:lstStyle/>
        <a:p>
          <a:r>
            <a:rPr lang="en-US"/>
            <a:t>Implement marketing strategy targeting solo taxi riders and include incentivizing card users as one of the tactics. </a:t>
          </a:r>
        </a:p>
      </dgm:t>
    </dgm:pt>
    <dgm:pt modelId="{F3D8779F-4BFE-469B-A969-7AE40091DE24}" type="parTrans" cxnId="{5E4406C0-7E8F-4870-BA6C-D2CAC5C9A920}">
      <dgm:prSet/>
      <dgm:spPr/>
      <dgm:t>
        <a:bodyPr/>
        <a:lstStyle/>
        <a:p>
          <a:endParaRPr lang="en-US"/>
        </a:p>
      </dgm:t>
    </dgm:pt>
    <dgm:pt modelId="{935306F1-9E2F-4672-A215-03FDD361D692}" type="sibTrans" cxnId="{5E4406C0-7E8F-4870-BA6C-D2CAC5C9A920}">
      <dgm:prSet phldrT="01" phldr="0"/>
      <dgm:spPr/>
      <dgm:t>
        <a:bodyPr/>
        <a:lstStyle/>
        <a:p>
          <a:r>
            <a:rPr lang="en-US"/>
            <a:t>01</a:t>
          </a:r>
        </a:p>
      </dgm:t>
    </dgm:pt>
    <dgm:pt modelId="{3AF58F6D-6315-4B46-AF8C-DD8D82386E83}">
      <dgm:prSet/>
      <dgm:spPr/>
      <dgm:t>
        <a:bodyPr/>
        <a:lstStyle/>
        <a:p>
          <a:r>
            <a:rPr lang="en-US"/>
            <a:t>Provide digital discount coupons for the card users taking longer distance trip. </a:t>
          </a:r>
        </a:p>
      </dgm:t>
    </dgm:pt>
    <dgm:pt modelId="{5F829980-6C64-4514-9FEF-9A6289FCEEB0}" type="parTrans" cxnId="{FCF82818-2F27-422C-A78C-55836FE71CA3}">
      <dgm:prSet/>
      <dgm:spPr/>
      <dgm:t>
        <a:bodyPr/>
        <a:lstStyle/>
        <a:p>
          <a:endParaRPr lang="en-US"/>
        </a:p>
      </dgm:t>
    </dgm:pt>
    <dgm:pt modelId="{91CD9689-9DF0-4363-8FF1-61E38683E312}" type="sibTrans" cxnId="{FCF82818-2F27-422C-A78C-55836FE71CA3}">
      <dgm:prSet phldrT="02" phldr="0"/>
      <dgm:spPr/>
      <dgm:t>
        <a:bodyPr/>
        <a:lstStyle/>
        <a:p>
          <a:r>
            <a:rPr lang="en-US"/>
            <a:t>02</a:t>
          </a:r>
        </a:p>
      </dgm:t>
    </dgm:pt>
    <dgm:pt modelId="{29976A7A-4B5A-4338-8CF6-4440C921B9D9}">
      <dgm:prSet/>
      <dgm:spPr/>
      <dgm:t>
        <a:bodyPr/>
        <a:lstStyle/>
        <a:p>
          <a:r>
            <a:rPr lang="en-US"/>
            <a:t>Provide safe and secure payment method for the card users. </a:t>
          </a:r>
        </a:p>
      </dgm:t>
    </dgm:pt>
    <dgm:pt modelId="{A7004BEA-D7F7-4AE3-A604-CF411964D278}" type="parTrans" cxnId="{0771E619-639A-4077-89DE-6A97973574B6}">
      <dgm:prSet/>
      <dgm:spPr/>
      <dgm:t>
        <a:bodyPr/>
        <a:lstStyle/>
        <a:p>
          <a:endParaRPr lang="en-US"/>
        </a:p>
      </dgm:t>
    </dgm:pt>
    <dgm:pt modelId="{0AF8B10B-EBA6-4463-B852-7E10356B55B0}" type="sibTrans" cxnId="{0771E619-639A-4077-89DE-6A97973574B6}">
      <dgm:prSet phldrT="03" phldr="0"/>
      <dgm:spPr/>
      <dgm:t>
        <a:bodyPr/>
        <a:lstStyle/>
        <a:p>
          <a:r>
            <a:rPr lang="en-US"/>
            <a:t>03</a:t>
          </a:r>
        </a:p>
      </dgm:t>
    </dgm:pt>
    <dgm:pt modelId="{436A701A-3A0C-0847-8568-59B5A2C47C7D}" type="pres">
      <dgm:prSet presAssocID="{72C73B8B-81AB-46F6-83C8-B6D7690DF33F}" presName="Name0" presStyleCnt="0">
        <dgm:presLayoutVars>
          <dgm:animLvl val="lvl"/>
          <dgm:resizeHandles val="exact"/>
        </dgm:presLayoutVars>
      </dgm:prSet>
      <dgm:spPr/>
    </dgm:pt>
    <dgm:pt modelId="{89911B5C-0735-F747-8A5E-2711A70A32D0}" type="pres">
      <dgm:prSet presAssocID="{1BCDD37E-E1BC-47AE-8CD4-6E9786B76EE9}" presName="compositeNode" presStyleCnt="0">
        <dgm:presLayoutVars>
          <dgm:bulletEnabled val="1"/>
        </dgm:presLayoutVars>
      </dgm:prSet>
      <dgm:spPr/>
    </dgm:pt>
    <dgm:pt modelId="{1CC9EF4B-B854-6F4D-BCF6-1A606636A545}" type="pres">
      <dgm:prSet presAssocID="{1BCDD37E-E1BC-47AE-8CD4-6E9786B76EE9}" presName="bgRect" presStyleLbl="alignNode1" presStyleIdx="0" presStyleCnt="3"/>
      <dgm:spPr/>
    </dgm:pt>
    <dgm:pt modelId="{D9E543B6-D856-C142-B4F4-D7D779B0C7AB}" type="pres">
      <dgm:prSet presAssocID="{935306F1-9E2F-4672-A215-03FDD361D692}" presName="sibTransNodeRect" presStyleLbl="alignNode1" presStyleIdx="0" presStyleCnt="3">
        <dgm:presLayoutVars>
          <dgm:chMax val="0"/>
          <dgm:bulletEnabled val="1"/>
        </dgm:presLayoutVars>
      </dgm:prSet>
      <dgm:spPr/>
    </dgm:pt>
    <dgm:pt modelId="{377FEB9B-4BFA-9144-A2C7-B697382DB2CB}" type="pres">
      <dgm:prSet presAssocID="{1BCDD37E-E1BC-47AE-8CD4-6E9786B76EE9}" presName="nodeRect" presStyleLbl="alignNode1" presStyleIdx="0" presStyleCnt="3">
        <dgm:presLayoutVars>
          <dgm:bulletEnabled val="1"/>
        </dgm:presLayoutVars>
      </dgm:prSet>
      <dgm:spPr/>
    </dgm:pt>
    <dgm:pt modelId="{CF8F8142-1BB6-EE47-839C-8BA98E3366D8}" type="pres">
      <dgm:prSet presAssocID="{935306F1-9E2F-4672-A215-03FDD361D692}" presName="sibTrans" presStyleCnt="0"/>
      <dgm:spPr/>
    </dgm:pt>
    <dgm:pt modelId="{F0C2C031-1719-9E4C-B8D8-8513D311660E}" type="pres">
      <dgm:prSet presAssocID="{3AF58F6D-6315-4B46-AF8C-DD8D82386E83}" presName="compositeNode" presStyleCnt="0">
        <dgm:presLayoutVars>
          <dgm:bulletEnabled val="1"/>
        </dgm:presLayoutVars>
      </dgm:prSet>
      <dgm:spPr/>
    </dgm:pt>
    <dgm:pt modelId="{F4BB2A78-D63D-2940-AA80-69C8135C22B5}" type="pres">
      <dgm:prSet presAssocID="{3AF58F6D-6315-4B46-AF8C-DD8D82386E83}" presName="bgRect" presStyleLbl="alignNode1" presStyleIdx="1" presStyleCnt="3"/>
      <dgm:spPr/>
    </dgm:pt>
    <dgm:pt modelId="{443F5A03-A9B1-6842-B325-8C87BCCAFD9B}" type="pres">
      <dgm:prSet presAssocID="{91CD9689-9DF0-4363-8FF1-61E38683E312}" presName="sibTransNodeRect" presStyleLbl="alignNode1" presStyleIdx="1" presStyleCnt="3">
        <dgm:presLayoutVars>
          <dgm:chMax val="0"/>
          <dgm:bulletEnabled val="1"/>
        </dgm:presLayoutVars>
      </dgm:prSet>
      <dgm:spPr/>
    </dgm:pt>
    <dgm:pt modelId="{2DBC59F2-04C3-7946-BD6B-629FB9CB467B}" type="pres">
      <dgm:prSet presAssocID="{3AF58F6D-6315-4B46-AF8C-DD8D82386E83}" presName="nodeRect" presStyleLbl="alignNode1" presStyleIdx="1" presStyleCnt="3">
        <dgm:presLayoutVars>
          <dgm:bulletEnabled val="1"/>
        </dgm:presLayoutVars>
      </dgm:prSet>
      <dgm:spPr/>
    </dgm:pt>
    <dgm:pt modelId="{187B128C-E299-3848-890F-A28583DEE84D}" type="pres">
      <dgm:prSet presAssocID="{91CD9689-9DF0-4363-8FF1-61E38683E312}" presName="sibTrans" presStyleCnt="0"/>
      <dgm:spPr/>
    </dgm:pt>
    <dgm:pt modelId="{9AE8324A-0A1F-544B-93AC-1AB8BBC465CF}" type="pres">
      <dgm:prSet presAssocID="{29976A7A-4B5A-4338-8CF6-4440C921B9D9}" presName="compositeNode" presStyleCnt="0">
        <dgm:presLayoutVars>
          <dgm:bulletEnabled val="1"/>
        </dgm:presLayoutVars>
      </dgm:prSet>
      <dgm:spPr/>
    </dgm:pt>
    <dgm:pt modelId="{5DF99274-D970-EF47-A6D9-063E50A6C2AF}" type="pres">
      <dgm:prSet presAssocID="{29976A7A-4B5A-4338-8CF6-4440C921B9D9}" presName="bgRect" presStyleLbl="alignNode1" presStyleIdx="2" presStyleCnt="3"/>
      <dgm:spPr/>
    </dgm:pt>
    <dgm:pt modelId="{F7D2481B-2D3B-CE48-953F-18EF11CE7009}" type="pres">
      <dgm:prSet presAssocID="{0AF8B10B-EBA6-4463-B852-7E10356B55B0}" presName="sibTransNodeRect" presStyleLbl="alignNode1" presStyleIdx="2" presStyleCnt="3">
        <dgm:presLayoutVars>
          <dgm:chMax val="0"/>
          <dgm:bulletEnabled val="1"/>
        </dgm:presLayoutVars>
      </dgm:prSet>
      <dgm:spPr/>
    </dgm:pt>
    <dgm:pt modelId="{8F28FF13-82B5-2B42-845D-455AE534C786}" type="pres">
      <dgm:prSet presAssocID="{29976A7A-4B5A-4338-8CF6-4440C921B9D9}" presName="nodeRect" presStyleLbl="alignNode1" presStyleIdx="2" presStyleCnt="3">
        <dgm:presLayoutVars>
          <dgm:bulletEnabled val="1"/>
        </dgm:presLayoutVars>
      </dgm:prSet>
      <dgm:spPr/>
    </dgm:pt>
  </dgm:ptLst>
  <dgm:cxnLst>
    <dgm:cxn modelId="{2CC5680F-47AD-BC4D-B390-F2C171FC6D82}" type="presOf" srcId="{91CD9689-9DF0-4363-8FF1-61E38683E312}" destId="{443F5A03-A9B1-6842-B325-8C87BCCAFD9B}" srcOrd="0" destOrd="0" presId="urn:microsoft.com/office/officeart/2016/7/layout/LinearBlockProcessNumbered"/>
    <dgm:cxn modelId="{FCF82818-2F27-422C-A78C-55836FE71CA3}" srcId="{72C73B8B-81AB-46F6-83C8-B6D7690DF33F}" destId="{3AF58F6D-6315-4B46-AF8C-DD8D82386E83}" srcOrd="1" destOrd="0" parTransId="{5F829980-6C64-4514-9FEF-9A6289FCEEB0}" sibTransId="{91CD9689-9DF0-4363-8FF1-61E38683E312}"/>
    <dgm:cxn modelId="{0771E619-639A-4077-89DE-6A97973574B6}" srcId="{72C73B8B-81AB-46F6-83C8-B6D7690DF33F}" destId="{29976A7A-4B5A-4338-8CF6-4440C921B9D9}" srcOrd="2" destOrd="0" parTransId="{A7004BEA-D7F7-4AE3-A604-CF411964D278}" sibTransId="{0AF8B10B-EBA6-4463-B852-7E10356B55B0}"/>
    <dgm:cxn modelId="{3573764D-AF01-574D-8193-3AB6624C7C8E}" type="presOf" srcId="{3AF58F6D-6315-4B46-AF8C-DD8D82386E83}" destId="{F4BB2A78-D63D-2940-AA80-69C8135C22B5}" srcOrd="0" destOrd="0" presId="urn:microsoft.com/office/officeart/2016/7/layout/LinearBlockProcessNumbered"/>
    <dgm:cxn modelId="{96059952-982B-C842-A5E9-EB1D72810652}" type="presOf" srcId="{3AF58F6D-6315-4B46-AF8C-DD8D82386E83}" destId="{2DBC59F2-04C3-7946-BD6B-629FB9CB467B}" srcOrd="1" destOrd="0" presId="urn:microsoft.com/office/officeart/2016/7/layout/LinearBlockProcessNumbered"/>
    <dgm:cxn modelId="{BE898B73-2C8A-C64F-906D-4918A4824E59}" type="presOf" srcId="{29976A7A-4B5A-4338-8CF6-4440C921B9D9}" destId="{8F28FF13-82B5-2B42-845D-455AE534C786}" srcOrd="1" destOrd="0" presId="urn:microsoft.com/office/officeart/2016/7/layout/LinearBlockProcessNumbered"/>
    <dgm:cxn modelId="{01FCE777-2360-3B4B-AE2C-8018175A111B}" type="presOf" srcId="{0AF8B10B-EBA6-4463-B852-7E10356B55B0}" destId="{F7D2481B-2D3B-CE48-953F-18EF11CE7009}" srcOrd="0" destOrd="0" presId="urn:microsoft.com/office/officeart/2016/7/layout/LinearBlockProcessNumbered"/>
    <dgm:cxn modelId="{40CBC08E-572E-2448-B503-319BA1E31639}" type="presOf" srcId="{72C73B8B-81AB-46F6-83C8-B6D7690DF33F}" destId="{436A701A-3A0C-0847-8568-59B5A2C47C7D}" srcOrd="0" destOrd="0" presId="urn:microsoft.com/office/officeart/2016/7/layout/LinearBlockProcessNumbered"/>
    <dgm:cxn modelId="{87B7CF8E-752F-0F40-A01C-95181D101092}" type="presOf" srcId="{935306F1-9E2F-4672-A215-03FDD361D692}" destId="{D9E543B6-D856-C142-B4F4-D7D779B0C7AB}" srcOrd="0" destOrd="0" presId="urn:microsoft.com/office/officeart/2016/7/layout/LinearBlockProcessNumbered"/>
    <dgm:cxn modelId="{5E4406C0-7E8F-4870-BA6C-D2CAC5C9A920}" srcId="{72C73B8B-81AB-46F6-83C8-B6D7690DF33F}" destId="{1BCDD37E-E1BC-47AE-8CD4-6E9786B76EE9}" srcOrd="0" destOrd="0" parTransId="{F3D8779F-4BFE-469B-A969-7AE40091DE24}" sibTransId="{935306F1-9E2F-4672-A215-03FDD361D692}"/>
    <dgm:cxn modelId="{60D178C8-302B-3D4A-8457-326FF9900836}" type="presOf" srcId="{1BCDD37E-E1BC-47AE-8CD4-6E9786B76EE9}" destId="{1CC9EF4B-B854-6F4D-BCF6-1A606636A545}" srcOrd="0" destOrd="0" presId="urn:microsoft.com/office/officeart/2016/7/layout/LinearBlockProcessNumbered"/>
    <dgm:cxn modelId="{98827ED6-15B8-9241-AAFD-AB5961E0ED90}" type="presOf" srcId="{1BCDD37E-E1BC-47AE-8CD4-6E9786B76EE9}" destId="{377FEB9B-4BFA-9144-A2C7-B697382DB2CB}" srcOrd="1" destOrd="0" presId="urn:microsoft.com/office/officeart/2016/7/layout/LinearBlockProcessNumbered"/>
    <dgm:cxn modelId="{2A07B9E8-1531-D74B-90D9-171CF4A61FEF}" type="presOf" srcId="{29976A7A-4B5A-4338-8CF6-4440C921B9D9}" destId="{5DF99274-D970-EF47-A6D9-063E50A6C2AF}" srcOrd="0" destOrd="0" presId="urn:microsoft.com/office/officeart/2016/7/layout/LinearBlockProcessNumbered"/>
    <dgm:cxn modelId="{45459AC8-BE8B-8149-AC93-57254383BBE4}" type="presParOf" srcId="{436A701A-3A0C-0847-8568-59B5A2C47C7D}" destId="{89911B5C-0735-F747-8A5E-2711A70A32D0}" srcOrd="0" destOrd="0" presId="urn:microsoft.com/office/officeart/2016/7/layout/LinearBlockProcessNumbered"/>
    <dgm:cxn modelId="{282C3274-E1C8-E747-AF0E-054C6B1602C1}" type="presParOf" srcId="{89911B5C-0735-F747-8A5E-2711A70A32D0}" destId="{1CC9EF4B-B854-6F4D-BCF6-1A606636A545}" srcOrd="0" destOrd="0" presId="urn:microsoft.com/office/officeart/2016/7/layout/LinearBlockProcessNumbered"/>
    <dgm:cxn modelId="{9CF20550-D7AB-0B40-86D7-83B6E2E8DC83}" type="presParOf" srcId="{89911B5C-0735-F747-8A5E-2711A70A32D0}" destId="{D9E543B6-D856-C142-B4F4-D7D779B0C7AB}" srcOrd="1" destOrd="0" presId="urn:microsoft.com/office/officeart/2016/7/layout/LinearBlockProcessNumbered"/>
    <dgm:cxn modelId="{D20BFFF8-B5B2-C443-91BF-65B7B3842878}" type="presParOf" srcId="{89911B5C-0735-F747-8A5E-2711A70A32D0}" destId="{377FEB9B-4BFA-9144-A2C7-B697382DB2CB}" srcOrd="2" destOrd="0" presId="urn:microsoft.com/office/officeart/2016/7/layout/LinearBlockProcessNumbered"/>
    <dgm:cxn modelId="{D1240706-66B4-F04B-850A-1EF69CBD7C39}" type="presParOf" srcId="{436A701A-3A0C-0847-8568-59B5A2C47C7D}" destId="{CF8F8142-1BB6-EE47-839C-8BA98E3366D8}" srcOrd="1" destOrd="0" presId="urn:microsoft.com/office/officeart/2016/7/layout/LinearBlockProcessNumbered"/>
    <dgm:cxn modelId="{B67287C2-1AE0-CC44-9593-56EE4BBAED25}" type="presParOf" srcId="{436A701A-3A0C-0847-8568-59B5A2C47C7D}" destId="{F0C2C031-1719-9E4C-B8D8-8513D311660E}" srcOrd="2" destOrd="0" presId="urn:microsoft.com/office/officeart/2016/7/layout/LinearBlockProcessNumbered"/>
    <dgm:cxn modelId="{83FA1B69-A61E-3C41-873E-0EDB001A3B30}" type="presParOf" srcId="{F0C2C031-1719-9E4C-B8D8-8513D311660E}" destId="{F4BB2A78-D63D-2940-AA80-69C8135C22B5}" srcOrd="0" destOrd="0" presId="urn:microsoft.com/office/officeart/2016/7/layout/LinearBlockProcessNumbered"/>
    <dgm:cxn modelId="{9BA0DC1B-B73E-4C44-902D-60386B68475A}" type="presParOf" srcId="{F0C2C031-1719-9E4C-B8D8-8513D311660E}" destId="{443F5A03-A9B1-6842-B325-8C87BCCAFD9B}" srcOrd="1" destOrd="0" presId="urn:microsoft.com/office/officeart/2016/7/layout/LinearBlockProcessNumbered"/>
    <dgm:cxn modelId="{E87DC620-07D9-D64A-AB6C-5EE5592A248F}" type="presParOf" srcId="{F0C2C031-1719-9E4C-B8D8-8513D311660E}" destId="{2DBC59F2-04C3-7946-BD6B-629FB9CB467B}" srcOrd="2" destOrd="0" presId="urn:microsoft.com/office/officeart/2016/7/layout/LinearBlockProcessNumbered"/>
    <dgm:cxn modelId="{A8CFD184-BCEB-3C48-AC9D-59BC197D853C}" type="presParOf" srcId="{436A701A-3A0C-0847-8568-59B5A2C47C7D}" destId="{187B128C-E299-3848-890F-A28583DEE84D}" srcOrd="3" destOrd="0" presId="urn:microsoft.com/office/officeart/2016/7/layout/LinearBlockProcessNumbered"/>
    <dgm:cxn modelId="{AD289EA3-F56E-FF41-A1ED-E33EA098C32A}" type="presParOf" srcId="{436A701A-3A0C-0847-8568-59B5A2C47C7D}" destId="{9AE8324A-0A1F-544B-93AC-1AB8BBC465CF}" srcOrd="4" destOrd="0" presId="urn:microsoft.com/office/officeart/2016/7/layout/LinearBlockProcessNumbered"/>
    <dgm:cxn modelId="{4822730A-0A88-3444-B662-B4B0A0CDD738}" type="presParOf" srcId="{9AE8324A-0A1F-544B-93AC-1AB8BBC465CF}" destId="{5DF99274-D970-EF47-A6D9-063E50A6C2AF}" srcOrd="0" destOrd="0" presId="urn:microsoft.com/office/officeart/2016/7/layout/LinearBlockProcessNumbered"/>
    <dgm:cxn modelId="{445EC705-247D-F941-B38B-1A80EF2D3044}" type="presParOf" srcId="{9AE8324A-0A1F-544B-93AC-1AB8BBC465CF}" destId="{F7D2481B-2D3B-CE48-953F-18EF11CE7009}" srcOrd="1" destOrd="0" presId="urn:microsoft.com/office/officeart/2016/7/layout/LinearBlockProcessNumbered"/>
    <dgm:cxn modelId="{3020D021-EFF8-CB44-A033-2C751588B3DC}" type="presParOf" srcId="{9AE8324A-0A1F-544B-93AC-1AB8BBC465CF}" destId="{8F28FF13-82B5-2B42-845D-455AE534C786}"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D224AC-14A8-6141-85A4-FA62AB8EDC1D}">
      <dsp:nvSpPr>
        <dsp:cNvPr id="0" name=""/>
        <dsp:cNvSpPr/>
      </dsp:nvSpPr>
      <dsp:spPr>
        <a:xfrm>
          <a:off x="0" y="708"/>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B92615-6B5A-3E45-9414-346B947B9411}">
      <dsp:nvSpPr>
        <dsp:cNvPr id="0" name=""/>
        <dsp:cNvSpPr/>
      </dsp:nvSpPr>
      <dsp:spPr>
        <a:xfrm>
          <a:off x="0" y="708"/>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Problem Statement</a:t>
          </a:r>
        </a:p>
      </dsp:txBody>
      <dsp:txXfrm>
        <a:off x="0" y="708"/>
        <a:ext cx="7315200" cy="829288"/>
      </dsp:txXfrm>
    </dsp:sp>
    <dsp:sp modelId="{A1DA02CA-6AA6-1641-90A3-99713E67181D}">
      <dsp:nvSpPr>
        <dsp:cNvPr id="0" name=""/>
        <dsp:cNvSpPr/>
      </dsp:nvSpPr>
      <dsp:spPr>
        <a:xfrm>
          <a:off x="0" y="829997"/>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EFEC45-BC36-9644-905B-3DDE6A7AC911}">
      <dsp:nvSpPr>
        <dsp:cNvPr id="0" name=""/>
        <dsp:cNvSpPr/>
      </dsp:nvSpPr>
      <dsp:spPr>
        <a:xfrm>
          <a:off x="0" y="829997"/>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Research Question </a:t>
          </a:r>
        </a:p>
      </dsp:txBody>
      <dsp:txXfrm>
        <a:off x="0" y="829997"/>
        <a:ext cx="7315200" cy="829288"/>
      </dsp:txXfrm>
    </dsp:sp>
    <dsp:sp modelId="{772C2CF6-0FED-1845-A9D0-33A308F8360D}">
      <dsp:nvSpPr>
        <dsp:cNvPr id="0" name=""/>
        <dsp:cNvSpPr/>
      </dsp:nvSpPr>
      <dsp:spPr>
        <a:xfrm>
          <a:off x="0" y="1659286"/>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CD26EE-847E-0640-9D9C-A39C4238B484}">
      <dsp:nvSpPr>
        <dsp:cNvPr id="0" name=""/>
        <dsp:cNvSpPr/>
      </dsp:nvSpPr>
      <dsp:spPr>
        <a:xfrm>
          <a:off x="0" y="1659286"/>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Data Overview</a:t>
          </a:r>
        </a:p>
      </dsp:txBody>
      <dsp:txXfrm>
        <a:off x="0" y="1659286"/>
        <a:ext cx="7315200" cy="829288"/>
      </dsp:txXfrm>
    </dsp:sp>
    <dsp:sp modelId="{C378C931-B06E-3240-AE20-195553DFABF0}">
      <dsp:nvSpPr>
        <dsp:cNvPr id="0" name=""/>
        <dsp:cNvSpPr/>
      </dsp:nvSpPr>
      <dsp:spPr>
        <a:xfrm>
          <a:off x="0" y="2488575"/>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BE1713-44F9-D146-A79F-5058BC9E59F8}">
      <dsp:nvSpPr>
        <dsp:cNvPr id="0" name=""/>
        <dsp:cNvSpPr/>
      </dsp:nvSpPr>
      <dsp:spPr>
        <a:xfrm>
          <a:off x="0" y="2488575"/>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Methodology </a:t>
          </a:r>
        </a:p>
      </dsp:txBody>
      <dsp:txXfrm>
        <a:off x="0" y="2488575"/>
        <a:ext cx="7315200" cy="829288"/>
      </dsp:txXfrm>
    </dsp:sp>
    <dsp:sp modelId="{A3FB94E8-940E-A74D-A102-6A1172571521}">
      <dsp:nvSpPr>
        <dsp:cNvPr id="0" name=""/>
        <dsp:cNvSpPr/>
      </dsp:nvSpPr>
      <dsp:spPr>
        <a:xfrm>
          <a:off x="0" y="3317864"/>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D82C76-BBC4-1545-8BB2-DFBEBFC15E65}">
      <dsp:nvSpPr>
        <dsp:cNvPr id="0" name=""/>
        <dsp:cNvSpPr/>
      </dsp:nvSpPr>
      <dsp:spPr>
        <a:xfrm>
          <a:off x="0" y="3317864"/>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Analysis and Findings </a:t>
          </a:r>
        </a:p>
      </dsp:txBody>
      <dsp:txXfrm>
        <a:off x="0" y="3317864"/>
        <a:ext cx="7315200" cy="829288"/>
      </dsp:txXfrm>
    </dsp:sp>
    <dsp:sp modelId="{010C065D-D2CE-5E47-AF0E-9B0869CC2DAB}">
      <dsp:nvSpPr>
        <dsp:cNvPr id="0" name=""/>
        <dsp:cNvSpPr/>
      </dsp:nvSpPr>
      <dsp:spPr>
        <a:xfrm>
          <a:off x="0" y="4147153"/>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FE1C8D-84B7-AE43-8177-46011A39F484}">
      <dsp:nvSpPr>
        <dsp:cNvPr id="0" name=""/>
        <dsp:cNvSpPr/>
      </dsp:nvSpPr>
      <dsp:spPr>
        <a:xfrm>
          <a:off x="0" y="4147153"/>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Hypothesis Testing </a:t>
          </a:r>
        </a:p>
      </dsp:txBody>
      <dsp:txXfrm>
        <a:off x="0" y="4147153"/>
        <a:ext cx="7315200" cy="829288"/>
      </dsp:txXfrm>
    </dsp:sp>
    <dsp:sp modelId="{6060CE3F-233E-6E40-AFCA-D174BAFB4890}">
      <dsp:nvSpPr>
        <dsp:cNvPr id="0" name=""/>
        <dsp:cNvSpPr/>
      </dsp:nvSpPr>
      <dsp:spPr>
        <a:xfrm>
          <a:off x="0" y="4976442"/>
          <a:ext cx="73152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8660E9-536F-804C-B47C-9357299B8E98}">
      <dsp:nvSpPr>
        <dsp:cNvPr id="0" name=""/>
        <dsp:cNvSpPr/>
      </dsp:nvSpPr>
      <dsp:spPr>
        <a:xfrm>
          <a:off x="0" y="4976442"/>
          <a:ext cx="7315200" cy="829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Recommendations </a:t>
          </a:r>
        </a:p>
      </dsp:txBody>
      <dsp:txXfrm>
        <a:off x="0" y="4976442"/>
        <a:ext cx="7315200" cy="8292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C9EF4B-B854-6F4D-BCF6-1A606636A545}">
      <dsp:nvSpPr>
        <dsp:cNvPr id="0" name=""/>
        <dsp:cNvSpPr/>
      </dsp:nvSpPr>
      <dsp:spPr>
        <a:xfrm>
          <a:off x="850" y="0"/>
          <a:ext cx="3445782" cy="274320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0367" tIns="0" rIns="340367" bIns="330200" numCol="1" spcCol="1270" anchor="t" anchorCtr="0">
          <a:noAutofit/>
        </a:bodyPr>
        <a:lstStyle/>
        <a:p>
          <a:pPr marL="0" lvl="0" indent="0" algn="l" defTabSz="800100">
            <a:lnSpc>
              <a:spcPct val="90000"/>
            </a:lnSpc>
            <a:spcBef>
              <a:spcPct val="0"/>
            </a:spcBef>
            <a:spcAft>
              <a:spcPct val="35000"/>
            </a:spcAft>
            <a:buNone/>
          </a:pPr>
          <a:r>
            <a:rPr lang="en-US" sz="1800" kern="1200"/>
            <a:t>Implement marketing strategy targeting solo taxi riders and include incentivizing card users as one of the tactics. </a:t>
          </a:r>
        </a:p>
      </dsp:txBody>
      <dsp:txXfrm>
        <a:off x="850" y="1097280"/>
        <a:ext cx="3445782" cy="1645920"/>
      </dsp:txXfrm>
    </dsp:sp>
    <dsp:sp modelId="{D9E543B6-D856-C142-B4F4-D7D779B0C7AB}">
      <dsp:nvSpPr>
        <dsp:cNvPr id="0" name=""/>
        <dsp:cNvSpPr/>
      </dsp:nvSpPr>
      <dsp:spPr>
        <a:xfrm>
          <a:off x="850" y="0"/>
          <a:ext cx="3445782" cy="109728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0367" tIns="165100" rIns="340367" bIns="165100" numCol="1" spcCol="1270" anchor="ctr" anchorCtr="0">
          <a:noAutofit/>
        </a:bodyPr>
        <a:lstStyle/>
        <a:p>
          <a:pPr marL="0" lvl="0" indent="0" algn="l" defTabSz="2400300">
            <a:lnSpc>
              <a:spcPct val="90000"/>
            </a:lnSpc>
            <a:spcBef>
              <a:spcPct val="0"/>
            </a:spcBef>
            <a:spcAft>
              <a:spcPct val="35000"/>
            </a:spcAft>
            <a:buNone/>
          </a:pPr>
          <a:r>
            <a:rPr lang="en-US" sz="5400" kern="1200"/>
            <a:t>01</a:t>
          </a:r>
        </a:p>
      </dsp:txBody>
      <dsp:txXfrm>
        <a:off x="850" y="0"/>
        <a:ext cx="3445782" cy="1097280"/>
      </dsp:txXfrm>
    </dsp:sp>
    <dsp:sp modelId="{F4BB2A78-D63D-2940-AA80-69C8135C22B5}">
      <dsp:nvSpPr>
        <dsp:cNvPr id="0" name=""/>
        <dsp:cNvSpPr/>
      </dsp:nvSpPr>
      <dsp:spPr>
        <a:xfrm>
          <a:off x="3722295" y="0"/>
          <a:ext cx="3445782" cy="274320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0367" tIns="0" rIns="340367" bIns="330200" numCol="1" spcCol="1270" anchor="t" anchorCtr="0">
          <a:noAutofit/>
        </a:bodyPr>
        <a:lstStyle/>
        <a:p>
          <a:pPr marL="0" lvl="0" indent="0" algn="l" defTabSz="800100">
            <a:lnSpc>
              <a:spcPct val="90000"/>
            </a:lnSpc>
            <a:spcBef>
              <a:spcPct val="0"/>
            </a:spcBef>
            <a:spcAft>
              <a:spcPct val="35000"/>
            </a:spcAft>
            <a:buNone/>
          </a:pPr>
          <a:r>
            <a:rPr lang="en-US" sz="1800" kern="1200"/>
            <a:t>Provide digital discount coupons for the card users taking longer distance trip. </a:t>
          </a:r>
        </a:p>
      </dsp:txBody>
      <dsp:txXfrm>
        <a:off x="3722295" y="1097280"/>
        <a:ext cx="3445782" cy="1645920"/>
      </dsp:txXfrm>
    </dsp:sp>
    <dsp:sp modelId="{443F5A03-A9B1-6842-B325-8C87BCCAFD9B}">
      <dsp:nvSpPr>
        <dsp:cNvPr id="0" name=""/>
        <dsp:cNvSpPr/>
      </dsp:nvSpPr>
      <dsp:spPr>
        <a:xfrm>
          <a:off x="3722295" y="0"/>
          <a:ext cx="3445782" cy="109728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0367" tIns="165100" rIns="340367" bIns="165100" numCol="1" spcCol="1270" anchor="ctr" anchorCtr="0">
          <a:noAutofit/>
        </a:bodyPr>
        <a:lstStyle/>
        <a:p>
          <a:pPr marL="0" lvl="0" indent="0" algn="l" defTabSz="2400300">
            <a:lnSpc>
              <a:spcPct val="90000"/>
            </a:lnSpc>
            <a:spcBef>
              <a:spcPct val="0"/>
            </a:spcBef>
            <a:spcAft>
              <a:spcPct val="35000"/>
            </a:spcAft>
            <a:buNone/>
          </a:pPr>
          <a:r>
            <a:rPr lang="en-US" sz="5400" kern="1200"/>
            <a:t>02</a:t>
          </a:r>
        </a:p>
      </dsp:txBody>
      <dsp:txXfrm>
        <a:off x="3722295" y="0"/>
        <a:ext cx="3445782" cy="1097280"/>
      </dsp:txXfrm>
    </dsp:sp>
    <dsp:sp modelId="{5DF99274-D970-EF47-A6D9-063E50A6C2AF}">
      <dsp:nvSpPr>
        <dsp:cNvPr id="0" name=""/>
        <dsp:cNvSpPr/>
      </dsp:nvSpPr>
      <dsp:spPr>
        <a:xfrm>
          <a:off x="7443740" y="0"/>
          <a:ext cx="3445782" cy="274320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0367" tIns="0" rIns="340367" bIns="330200" numCol="1" spcCol="1270" anchor="t" anchorCtr="0">
          <a:noAutofit/>
        </a:bodyPr>
        <a:lstStyle/>
        <a:p>
          <a:pPr marL="0" lvl="0" indent="0" algn="l" defTabSz="800100">
            <a:lnSpc>
              <a:spcPct val="90000"/>
            </a:lnSpc>
            <a:spcBef>
              <a:spcPct val="0"/>
            </a:spcBef>
            <a:spcAft>
              <a:spcPct val="35000"/>
            </a:spcAft>
            <a:buNone/>
          </a:pPr>
          <a:r>
            <a:rPr lang="en-US" sz="1800" kern="1200"/>
            <a:t>Provide safe and secure payment method for the card users. </a:t>
          </a:r>
        </a:p>
      </dsp:txBody>
      <dsp:txXfrm>
        <a:off x="7443740" y="1097280"/>
        <a:ext cx="3445782" cy="1645920"/>
      </dsp:txXfrm>
    </dsp:sp>
    <dsp:sp modelId="{F7D2481B-2D3B-CE48-953F-18EF11CE7009}">
      <dsp:nvSpPr>
        <dsp:cNvPr id="0" name=""/>
        <dsp:cNvSpPr/>
      </dsp:nvSpPr>
      <dsp:spPr>
        <a:xfrm>
          <a:off x="7443740" y="0"/>
          <a:ext cx="3445782" cy="109728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0367" tIns="165100" rIns="340367" bIns="165100" numCol="1" spcCol="1270" anchor="ctr" anchorCtr="0">
          <a:noAutofit/>
        </a:bodyPr>
        <a:lstStyle/>
        <a:p>
          <a:pPr marL="0" lvl="0" indent="0" algn="l" defTabSz="2400300">
            <a:lnSpc>
              <a:spcPct val="90000"/>
            </a:lnSpc>
            <a:spcBef>
              <a:spcPct val="0"/>
            </a:spcBef>
            <a:spcAft>
              <a:spcPct val="35000"/>
            </a:spcAft>
            <a:buNone/>
          </a:pPr>
          <a:r>
            <a:rPr lang="en-US" sz="5400" kern="1200"/>
            <a:t>03</a:t>
          </a:r>
        </a:p>
      </dsp:txBody>
      <dsp:txXfrm>
        <a:off x="7443740" y="0"/>
        <a:ext cx="3445782" cy="109728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11/7/25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87563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137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26270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11/7/25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18589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6581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15892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04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11/7/25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19726279"/>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11/7/25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62369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11/7/25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12872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54051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92280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4864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445641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84353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11/7/25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2031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11/7/25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285363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11/7/25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787937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11/7/25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946278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14301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11/7/25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92356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08879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11/7/25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3331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11/7/25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106291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11/7/25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499247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074860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11/7/25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11561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11/7/25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817484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11/7/25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053191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303163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771815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982774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11/7/25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68260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11/7/25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636986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11/7/25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8662845"/>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11/7/25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10761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11/7/25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23250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11/7/25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93213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11/7/25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989581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11/7/25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37007328"/>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11/7/25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711443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11/7/25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86267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11/7/25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3151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11/7/25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7858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11/7/25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309811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11/7/25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101110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11/7/25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071440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850598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11/7/25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180322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11/7/25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552629376"/>
      </p:ext>
    </p:extLst>
  </p:cSld>
  <p:clrMap bg1="lt1" tx1="dk1" bg2="lt2" tx2="dk2" accent1="accent1" accent2="accent2" accent3="accent3" accent4="accent4" accent5="accent5" accent6="accent6" hlink="hlink" folHlink="folHlink"/>
  <p:sldLayoutIdLst>
    <p:sldLayoutId id="2147483750"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 id="2147483732" r:id="rId32"/>
    <p:sldLayoutId id="2147483733" r:id="rId33"/>
    <p:sldLayoutId id="2147483734" r:id="rId34"/>
    <p:sldLayoutId id="2147483735" r:id="rId35"/>
    <p:sldLayoutId id="2147483736" r:id="rId36"/>
    <p:sldLayoutId id="2147483749" r:id="rId37"/>
    <p:sldLayoutId id="2147483737" r:id="rId38"/>
    <p:sldLayoutId id="2147483738" r:id="rId39"/>
    <p:sldLayoutId id="2147483739" r:id="rId40"/>
    <p:sldLayoutId id="2147483740" r:id="rId41"/>
    <p:sldLayoutId id="2147483741" r:id="rId42"/>
    <p:sldLayoutId id="2147483742" r:id="rId43"/>
    <p:sldLayoutId id="2147483743" r:id="rId44"/>
    <p:sldLayoutId id="2147483744" r:id="rId45"/>
    <p:sldLayoutId id="2147483745" r:id="rId46"/>
    <p:sldLayoutId id="2147483746" r:id="rId47"/>
    <p:sldLayoutId id="2147483747" r:id="rId48"/>
    <p:sldLayoutId id="2147483748"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DDB2A-EA1F-301A-961E-F7C73BE304F0}"/>
              </a:ext>
            </a:extLst>
          </p:cNvPr>
          <p:cNvSpPr>
            <a:spLocks noGrp="1"/>
          </p:cNvSpPr>
          <p:nvPr>
            <p:ph type="ctrTitle"/>
          </p:nvPr>
        </p:nvSpPr>
        <p:spPr>
          <a:xfrm>
            <a:off x="7168896" y="1129554"/>
            <a:ext cx="4361688" cy="3475236"/>
          </a:xfrm>
        </p:spPr>
        <p:txBody>
          <a:bodyPr anchor="b">
            <a:normAutofit/>
          </a:bodyPr>
          <a:lstStyle/>
          <a:p>
            <a:r>
              <a:rPr lang="en-US" sz="4600"/>
              <a:t>Maximizing Revenue For Drivers- Payment Type</a:t>
            </a:r>
          </a:p>
        </p:txBody>
      </p:sp>
      <p:sp>
        <p:nvSpPr>
          <p:cNvPr id="3" name="Subtitle 2">
            <a:extLst>
              <a:ext uri="{FF2B5EF4-FFF2-40B4-BE49-F238E27FC236}">
                <a16:creationId xmlns:a16="http://schemas.microsoft.com/office/drawing/2014/main" id="{83E89C44-6D20-0E90-962E-8BAC23793066}"/>
              </a:ext>
            </a:extLst>
          </p:cNvPr>
          <p:cNvSpPr>
            <a:spLocks noGrp="1"/>
          </p:cNvSpPr>
          <p:nvPr>
            <p:ph type="subTitle" idx="1"/>
          </p:nvPr>
        </p:nvSpPr>
        <p:spPr>
          <a:xfrm>
            <a:off x="7168897" y="4731335"/>
            <a:ext cx="4206240" cy="1184585"/>
          </a:xfrm>
        </p:spPr>
        <p:txBody>
          <a:bodyPr>
            <a:normAutofit/>
          </a:bodyPr>
          <a:lstStyle/>
          <a:p>
            <a:r>
              <a:rPr lang="en-US" dirty="0"/>
              <a:t>Add a brief explanation of the presentation’s purpose</a:t>
            </a:r>
          </a:p>
        </p:txBody>
      </p:sp>
      <p:pic>
        <p:nvPicPr>
          <p:cNvPr id="10" name="Picture 9" descr="Money and passport">
            <a:extLst>
              <a:ext uri="{FF2B5EF4-FFF2-40B4-BE49-F238E27FC236}">
                <a16:creationId xmlns:a16="http://schemas.microsoft.com/office/drawing/2014/main" id="{6F92B627-0009-ADCB-AAED-9E5CE6BF34F8}"/>
              </a:ext>
            </a:extLst>
          </p:cNvPr>
          <p:cNvPicPr>
            <a:picLocks noChangeAspect="1"/>
          </p:cNvPicPr>
          <p:nvPr/>
        </p:nvPicPr>
        <p:blipFill>
          <a:blip r:embed="rId2"/>
          <a:srcRect l="35871" r="12999"/>
          <a:stretch>
            <a:fillRect/>
          </a:stretch>
        </p:blipFill>
        <p:spPr>
          <a:xfrm>
            <a:off x="20" y="10"/>
            <a:ext cx="6584930" cy="6857990"/>
          </a:xfrm>
          <a:prstGeom prst="rect">
            <a:avLst/>
          </a:prstGeom>
          <a:noFill/>
        </p:spPr>
      </p:pic>
    </p:spTree>
    <p:extLst>
      <p:ext uri="{BB962C8B-B14F-4D97-AF65-F5344CB8AC3E}">
        <p14:creationId xmlns:p14="http://schemas.microsoft.com/office/powerpoint/2010/main" val="1136822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5FA4F-8D27-B519-1603-BE766DA1C02D}"/>
              </a:ext>
            </a:extLst>
          </p:cNvPr>
          <p:cNvSpPr>
            <a:spLocks noGrp="1"/>
          </p:cNvSpPr>
          <p:nvPr>
            <p:ph type="title"/>
          </p:nvPr>
        </p:nvSpPr>
        <p:spPr>
          <a:xfrm>
            <a:off x="372533" y="548639"/>
            <a:ext cx="3494314" cy="5719639"/>
          </a:xfrm>
        </p:spPr>
        <p:txBody>
          <a:bodyPr anchor="t">
            <a:normAutofit/>
          </a:bodyPr>
          <a:lstStyle/>
          <a:p>
            <a:r>
              <a:rPr lang="en-US" dirty="0"/>
              <a:t>Agenda</a:t>
            </a:r>
          </a:p>
        </p:txBody>
      </p:sp>
      <p:graphicFrame>
        <p:nvGraphicFramePr>
          <p:cNvPr id="5" name="Content Placeholder 2">
            <a:extLst>
              <a:ext uri="{FF2B5EF4-FFF2-40B4-BE49-F238E27FC236}">
                <a16:creationId xmlns:a16="http://schemas.microsoft.com/office/drawing/2014/main" id="{4799C261-3C35-16DF-2F91-4ADCAF23B1D6}"/>
              </a:ext>
            </a:extLst>
          </p:cNvPr>
          <p:cNvGraphicFramePr>
            <a:graphicFrameLocks noGrp="1"/>
          </p:cNvGraphicFramePr>
          <p:nvPr>
            <p:ph sz="quarter" idx="13"/>
            <p:extLst>
              <p:ext uri="{D42A27DB-BD31-4B8C-83A1-F6EECF244321}">
                <p14:modId xmlns:p14="http://schemas.microsoft.com/office/powerpoint/2010/main" val="1830573898"/>
              </p:ext>
            </p:extLst>
          </p:nvPr>
        </p:nvGraphicFramePr>
        <p:xfrm>
          <a:off x="4504268" y="549274"/>
          <a:ext cx="7315200" cy="5806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4104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A6C0-44C3-897B-E45E-BAFCA00EB2B3}"/>
              </a:ext>
            </a:extLst>
          </p:cNvPr>
          <p:cNvSpPr>
            <a:spLocks noGrp="1"/>
          </p:cNvSpPr>
          <p:nvPr>
            <p:ph type="title"/>
          </p:nvPr>
        </p:nvSpPr>
        <p:spPr>
          <a:xfrm>
            <a:off x="5538937" y="548640"/>
            <a:ext cx="6093225" cy="1143000"/>
          </a:xfrm>
        </p:spPr>
        <p:txBody>
          <a:bodyPr anchor="b">
            <a:normAutofit/>
          </a:bodyPr>
          <a:lstStyle/>
          <a:p>
            <a:r>
              <a:rPr lang="en-US" dirty="0"/>
              <a:t>Problem Statement</a:t>
            </a:r>
          </a:p>
        </p:txBody>
      </p:sp>
      <p:pic>
        <p:nvPicPr>
          <p:cNvPr id="5" name="Picture 4" descr="A taxi cab sign">
            <a:extLst>
              <a:ext uri="{FF2B5EF4-FFF2-40B4-BE49-F238E27FC236}">
                <a16:creationId xmlns:a16="http://schemas.microsoft.com/office/drawing/2014/main" id="{7A765B26-11BE-0584-550D-609AC81F4355}"/>
              </a:ext>
            </a:extLst>
          </p:cNvPr>
          <p:cNvPicPr>
            <a:picLocks noChangeAspect="1"/>
          </p:cNvPicPr>
          <p:nvPr/>
        </p:nvPicPr>
        <p:blipFill>
          <a:blip r:embed="rId2"/>
          <a:srcRect l="13719" r="39621" b="-2"/>
          <a:stretch>
            <a:fillRect/>
          </a:stretch>
        </p:blipFill>
        <p:spPr>
          <a:xfrm>
            <a:off x="20" y="1"/>
            <a:ext cx="4793865" cy="6858000"/>
          </a:xfrm>
          <a:prstGeom prst="rect">
            <a:avLst/>
          </a:prstGeom>
          <a:noFill/>
        </p:spPr>
      </p:pic>
      <p:sp>
        <p:nvSpPr>
          <p:cNvPr id="3" name="Content Placeholder 2">
            <a:extLst>
              <a:ext uri="{FF2B5EF4-FFF2-40B4-BE49-F238E27FC236}">
                <a16:creationId xmlns:a16="http://schemas.microsoft.com/office/drawing/2014/main" id="{ECE32B41-8A25-3573-0E6D-FB40B6E87534}"/>
              </a:ext>
            </a:extLst>
          </p:cNvPr>
          <p:cNvSpPr>
            <a:spLocks noGrp="1"/>
          </p:cNvSpPr>
          <p:nvPr>
            <p:ph sz="quarter" idx="14"/>
          </p:nvPr>
        </p:nvSpPr>
        <p:spPr>
          <a:xfrm>
            <a:off x="5538937" y="1828800"/>
            <a:ext cx="6071616" cy="4489704"/>
          </a:xfrm>
        </p:spPr>
        <p:txBody>
          <a:bodyPr>
            <a:normAutofit/>
          </a:bodyPr>
          <a:lstStyle/>
          <a:p>
            <a:pPr marL="0" indent="0">
              <a:lnSpc>
                <a:spcPct val="110000"/>
              </a:lnSpc>
              <a:buNone/>
            </a:pPr>
            <a:r>
              <a:rPr lang="en-US"/>
              <a:t>In the fast-paced taxi booking sector, </a:t>
            </a:r>
            <a:r>
              <a:rPr lang="en-US" err="1"/>
              <a:t>maximising</a:t>
            </a:r>
            <a:r>
              <a:rPr lang="en-US"/>
              <a:t> revenue is crucial for long-term success and driver satisfaction. </a:t>
            </a:r>
          </a:p>
          <a:p>
            <a:pPr marL="0" indent="0">
              <a:lnSpc>
                <a:spcPct val="110000"/>
              </a:lnSpc>
              <a:buNone/>
            </a:pPr>
            <a:r>
              <a:rPr lang="en-US"/>
              <a:t>Our goal is to use data-driven insight to </a:t>
            </a:r>
            <a:r>
              <a:rPr lang="en-US" err="1"/>
              <a:t>maximise</a:t>
            </a:r>
            <a:r>
              <a:rPr lang="en-US"/>
              <a:t> revenue streams for taxi drivers to meet this need. Our research aims to determine whether payment methods have an impact on fair pricing by focusing on the relationship between </a:t>
            </a:r>
          </a:p>
          <a:p>
            <a:pPr>
              <a:lnSpc>
                <a:spcPct val="110000"/>
              </a:lnSpc>
              <a:buFontTx/>
              <a:buChar char="-"/>
            </a:pPr>
            <a:r>
              <a:rPr lang="en-US"/>
              <a:t>payment type and fare amount</a:t>
            </a:r>
          </a:p>
          <a:p>
            <a:pPr>
              <a:lnSpc>
                <a:spcPct val="110000"/>
              </a:lnSpc>
              <a:buFontTx/>
              <a:buChar char="-"/>
            </a:pPr>
            <a:r>
              <a:rPr lang="en-US"/>
              <a:t>payment type and trip duration (pickup and </a:t>
            </a:r>
            <a:r>
              <a:rPr lang="en-US" err="1"/>
              <a:t>dropoff</a:t>
            </a:r>
            <a:r>
              <a:rPr lang="en-US"/>
              <a:t> time)</a:t>
            </a:r>
          </a:p>
          <a:p>
            <a:pPr>
              <a:lnSpc>
                <a:spcPct val="110000"/>
              </a:lnSpc>
              <a:buFontTx/>
              <a:buChar char="-"/>
            </a:pPr>
            <a:endParaRPr lang="en-US"/>
          </a:p>
          <a:p>
            <a:pPr marL="0" indent="0">
              <a:lnSpc>
                <a:spcPct val="110000"/>
              </a:lnSpc>
              <a:buNone/>
            </a:pPr>
            <a:endParaRPr lang="en-US"/>
          </a:p>
        </p:txBody>
      </p:sp>
    </p:spTree>
    <p:extLst>
      <p:ext uri="{BB962C8B-B14F-4D97-AF65-F5344CB8AC3E}">
        <p14:creationId xmlns:p14="http://schemas.microsoft.com/office/powerpoint/2010/main" val="3370571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920F4-8877-A14D-5AD3-4261F5666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ED6B6-B4F2-D108-3A2D-D016D6830E20}"/>
              </a:ext>
            </a:extLst>
          </p:cNvPr>
          <p:cNvSpPr>
            <a:spLocks noGrp="1"/>
          </p:cNvSpPr>
          <p:nvPr>
            <p:ph type="title"/>
          </p:nvPr>
        </p:nvSpPr>
        <p:spPr>
          <a:xfrm>
            <a:off x="6858000" y="1161288"/>
            <a:ext cx="4663440" cy="1554480"/>
          </a:xfrm>
        </p:spPr>
        <p:txBody>
          <a:bodyPr anchor="b">
            <a:normAutofit/>
          </a:bodyPr>
          <a:lstStyle/>
          <a:p>
            <a:r>
              <a:rPr lang="en-US" dirty="0"/>
              <a:t>Objective</a:t>
            </a:r>
          </a:p>
        </p:txBody>
      </p:sp>
      <p:pic>
        <p:nvPicPr>
          <p:cNvPr id="5" name="Picture 4">
            <a:extLst>
              <a:ext uri="{FF2B5EF4-FFF2-40B4-BE49-F238E27FC236}">
                <a16:creationId xmlns:a16="http://schemas.microsoft.com/office/drawing/2014/main" id="{18E98DEC-490D-B795-D329-7436D9B8E3D7}"/>
              </a:ext>
            </a:extLst>
          </p:cNvPr>
          <p:cNvPicPr>
            <a:picLocks noChangeAspect="1"/>
          </p:cNvPicPr>
          <p:nvPr/>
        </p:nvPicPr>
        <p:blipFill>
          <a:blip r:embed="rId2"/>
          <a:srcRect l="22095" r="27880"/>
          <a:stretch>
            <a:fillRect/>
          </a:stretch>
        </p:blipFill>
        <p:spPr>
          <a:xfrm>
            <a:off x="20" y="10"/>
            <a:ext cx="6099028" cy="6857990"/>
          </a:xfrm>
          <a:prstGeom prst="rect">
            <a:avLst/>
          </a:prstGeom>
          <a:noFill/>
        </p:spPr>
      </p:pic>
      <p:sp>
        <p:nvSpPr>
          <p:cNvPr id="3" name="Content Placeholder 2">
            <a:extLst>
              <a:ext uri="{FF2B5EF4-FFF2-40B4-BE49-F238E27FC236}">
                <a16:creationId xmlns:a16="http://schemas.microsoft.com/office/drawing/2014/main" id="{992D09D5-D682-4A91-AF39-EB9F9C8D7F56}"/>
              </a:ext>
            </a:extLst>
          </p:cNvPr>
          <p:cNvSpPr>
            <a:spLocks noGrp="1"/>
          </p:cNvSpPr>
          <p:nvPr>
            <p:ph sz="quarter" idx="13"/>
          </p:nvPr>
        </p:nvSpPr>
        <p:spPr>
          <a:xfrm>
            <a:off x="6858000" y="2825496"/>
            <a:ext cx="4663440" cy="3337560"/>
          </a:xfrm>
        </p:spPr>
        <p:txBody>
          <a:bodyPr>
            <a:normAutofit/>
          </a:bodyPr>
          <a:lstStyle/>
          <a:p>
            <a:pPr marL="0" indent="0">
              <a:lnSpc>
                <a:spcPct val="110000"/>
              </a:lnSpc>
              <a:buNone/>
            </a:pPr>
            <a:r>
              <a:rPr lang="en-US" sz="1700" dirty="0"/>
              <a:t>This project's main goal is to run an A/B test to examine the relationship between the total fare and the method of payment. We </a:t>
            </a:r>
            <a:r>
              <a:rPr lang="en-US" sz="1700" dirty="0" err="1"/>
              <a:t>utilise</a:t>
            </a:r>
            <a:r>
              <a:rPr lang="en-US" sz="1700" dirty="0"/>
              <a:t> Python's hypothesis testing and descriptive statistics to extract valuable insights that can help taxi drivers increase their revenue. In particular, we want to find out if there is a big difference in the fares for those who pay with credit cards versus those who pay with cash.</a:t>
            </a:r>
          </a:p>
        </p:txBody>
      </p:sp>
    </p:spTree>
    <p:extLst>
      <p:ext uri="{BB962C8B-B14F-4D97-AF65-F5344CB8AC3E}">
        <p14:creationId xmlns:p14="http://schemas.microsoft.com/office/powerpoint/2010/main" val="915031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BD87-7F7F-77C6-74EC-DBDFCACB9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4328F-E781-6300-2982-9469A9FAEDD9}"/>
              </a:ext>
            </a:extLst>
          </p:cNvPr>
          <p:cNvSpPr>
            <a:spLocks noGrp="1"/>
          </p:cNvSpPr>
          <p:nvPr>
            <p:ph type="title"/>
          </p:nvPr>
        </p:nvSpPr>
        <p:spPr>
          <a:xfrm>
            <a:off x="6858000" y="1161288"/>
            <a:ext cx="4663440" cy="1554480"/>
          </a:xfrm>
        </p:spPr>
        <p:txBody>
          <a:bodyPr anchor="b">
            <a:normAutofit/>
          </a:bodyPr>
          <a:lstStyle/>
          <a:p>
            <a:r>
              <a:rPr lang="en-US" dirty="0"/>
              <a:t>Research Question</a:t>
            </a:r>
          </a:p>
        </p:txBody>
      </p:sp>
      <p:pic>
        <p:nvPicPr>
          <p:cNvPr id="5" name="Picture 4">
            <a:extLst>
              <a:ext uri="{FF2B5EF4-FFF2-40B4-BE49-F238E27FC236}">
                <a16:creationId xmlns:a16="http://schemas.microsoft.com/office/drawing/2014/main" id="{9FEF6288-A797-36A4-9AEC-CD972EDDC674}"/>
              </a:ext>
            </a:extLst>
          </p:cNvPr>
          <p:cNvPicPr>
            <a:picLocks noChangeAspect="1"/>
          </p:cNvPicPr>
          <p:nvPr/>
        </p:nvPicPr>
        <p:blipFill>
          <a:blip r:embed="rId2"/>
          <a:srcRect l="14008" r="35967"/>
          <a:stretch>
            <a:fillRect/>
          </a:stretch>
        </p:blipFill>
        <p:spPr>
          <a:xfrm>
            <a:off x="20" y="10"/>
            <a:ext cx="6099028" cy="6857990"/>
          </a:xfrm>
          <a:prstGeom prst="rect">
            <a:avLst/>
          </a:prstGeom>
          <a:noFill/>
        </p:spPr>
      </p:pic>
      <p:sp>
        <p:nvSpPr>
          <p:cNvPr id="3" name="Content Placeholder 2">
            <a:extLst>
              <a:ext uri="{FF2B5EF4-FFF2-40B4-BE49-F238E27FC236}">
                <a16:creationId xmlns:a16="http://schemas.microsoft.com/office/drawing/2014/main" id="{D7F21EB3-6BF9-5E56-5DB9-2A150320EB48}"/>
              </a:ext>
            </a:extLst>
          </p:cNvPr>
          <p:cNvSpPr>
            <a:spLocks noGrp="1"/>
          </p:cNvSpPr>
          <p:nvPr>
            <p:ph sz="quarter" idx="13"/>
          </p:nvPr>
        </p:nvSpPr>
        <p:spPr>
          <a:xfrm>
            <a:off x="6858000" y="2825496"/>
            <a:ext cx="4663440" cy="3337560"/>
          </a:xfrm>
        </p:spPr>
        <p:txBody>
          <a:bodyPr>
            <a:normAutofit/>
          </a:bodyPr>
          <a:lstStyle/>
          <a:p>
            <a:pPr marL="0" indent="0">
              <a:lnSpc>
                <a:spcPct val="110000"/>
              </a:lnSpc>
              <a:buNone/>
            </a:pPr>
            <a:r>
              <a:rPr lang="en-US" sz="1900" b="1"/>
              <a:t>Is there a relationship between total fare amount and payment type?</a:t>
            </a:r>
          </a:p>
          <a:p>
            <a:pPr marL="0" indent="0">
              <a:lnSpc>
                <a:spcPct val="110000"/>
              </a:lnSpc>
              <a:buNone/>
            </a:pPr>
            <a:r>
              <a:rPr lang="en-US" sz="1900" b="1"/>
              <a:t>Is there a relationship between total trip duration and payment type?</a:t>
            </a:r>
          </a:p>
          <a:p>
            <a:pPr marL="0" indent="0">
              <a:lnSpc>
                <a:spcPct val="110000"/>
              </a:lnSpc>
              <a:buNone/>
            </a:pPr>
            <a:endParaRPr lang="en-US" sz="1900" b="1"/>
          </a:p>
          <a:p>
            <a:pPr marL="0" indent="0">
              <a:lnSpc>
                <a:spcPct val="110000"/>
              </a:lnSpc>
              <a:buNone/>
            </a:pPr>
            <a:r>
              <a:rPr lang="en-US" sz="1900"/>
              <a:t>Can we move customers towards payment methods that generate higher revenue for drivers, without affecting the CX? </a:t>
            </a:r>
          </a:p>
        </p:txBody>
      </p:sp>
    </p:spTree>
    <p:extLst>
      <p:ext uri="{BB962C8B-B14F-4D97-AF65-F5344CB8AC3E}">
        <p14:creationId xmlns:p14="http://schemas.microsoft.com/office/powerpoint/2010/main" val="3099749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80D98-2B9F-351F-5F56-EFDBBBBD086E}"/>
              </a:ext>
            </a:extLst>
          </p:cNvPr>
          <p:cNvSpPr>
            <a:spLocks noGrp="1"/>
          </p:cNvSpPr>
          <p:nvPr>
            <p:ph type="title"/>
          </p:nvPr>
        </p:nvSpPr>
        <p:spPr>
          <a:xfrm>
            <a:off x="612648" y="583413"/>
            <a:ext cx="4361688" cy="1527048"/>
          </a:xfrm>
        </p:spPr>
        <p:txBody>
          <a:bodyPr anchor="b">
            <a:normAutofit/>
          </a:bodyPr>
          <a:lstStyle/>
          <a:p>
            <a:r>
              <a:rPr lang="en-US" dirty="0"/>
              <a:t>Data Overview</a:t>
            </a:r>
          </a:p>
        </p:txBody>
      </p:sp>
      <p:sp>
        <p:nvSpPr>
          <p:cNvPr id="3" name="Content Placeholder 2">
            <a:extLst>
              <a:ext uri="{FF2B5EF4-FFF2-40B4-BE49-F238E27FC236}">
                <a16:creationId xmlns:a16="http://schemas.microsoft.com/office/drawing/2014/main" id="{AAEF2F10-C47D-F0E0-6E31-D871D3D59DEB}"/>
              </a:ext>
            </a:extLst>
          </p:cNvPr>
          <p:cNvSpPr>
            <a:spLocks noGrp="1"/>
          </p:cNvSpPr>
          <p:nvPr>
            <p:ph sz="quarter" idx="14"/>
          </p:nvPr>
        </p:nvSpPr>
        <p:spPr>
          <a:xfrm>
            <a:off x="612775" y="2212975"/>
            <a:ext cx="4360863" cy="4095750"/>
          </a:xfrm>
        </p:spPr>
        <p:txBody>
          <a:bodyPr>
            <a:normAutofit/>
          </a:bodyPr>
          <a:lstStyle/>
          <a:p>
            <a:pPr>
              <a:lnSpc>
                <a:spcPct val="110000"/>
              </a:lnSpc>
            </a:pPr>
            <a:r>
              <a:rPr lang="en-US" sz="1600"/>
              <a:t>For this analysis, we utilized the comprehensive dataset of Yellow Taxi Trip records, used data cleaning and feature engineering procedures to concentrate solely on the relevant columns essential for our investigation </a:t>
            </a:r>
          </a:p>
          <a:p>
            <a:pPr>
              <a:lnSpc>
                <a:spcPct val="110000"/>
              </a:lnSpc>
            </a:pPr>
            <a:r>
              <a:rPr lang="en-US" sz="1600"/>
              <a:t>Relevant columns used for this research </a:t>
            </a:r>
          </a:p>
          <a:p>
            <a:pPr marL="0" indent="0">
              <a:lnSpc>
                <a:spcPct val="110000"/>
              </a:lnSpc>
              <a:buNone/>
            </a:pPr>
            <a:r>
              <a:rPr lang="en-US" sz="1600" err="1"/>
              <a:t>passenger_count</a:t>
            </a:r>
            <a:r>
              <a:rPr lang="en-US" sz="1600"/>
              <a:t> (1 to 5)</a:t>
            </a:r>
          </a:p>
          <a:p>
            <a:pPr marL="0" indent="0">
              <a:lnSpc>
                <a:spcPct val="110000"/>
              </a:lnSpc>
              <a:buNone/>
            </a:pPr>
            <a:r>
              <a:rPr lang="en-US" sz="1600" err="1"/>
              <a:t>payment_type</a:t>
            </a:r>
            <a:r>
              <a:rPr lang="en-US" sz="1600"/>
              <a:t> (card and cash)</a:t>
            </a:r>
          </a:p>
          <a:p>
            <a:pPr marL="0" indent="0">
              <a:lnSpc>
                <a:spcPct val="110000"/>
              </a:lnSpc>
              <a:buNone/>
            </a:pPr>
            <a:r>
              <a:rPr lang="en-US" sz="1600"/>
              <a:t>fare-amount</a:t>
            </a:r>
          </a:p>
          <a:p>
            <a:pPr marL="0" indent="0">
              <a:lnSpc>
                <a:spcPct val="110000"/>
              </a:lnSpc>
              <a:buNone/>
            </a:pPr>
            <a:r>
              <a:rPr lang="en-US" sz="1600"/>
              <a:t>trip-distance </a:t>
            </a:r>
          </a:p>
          <a:p>
            <a:pPr marL="0" indent="0">
              <a:lnSpc>
                <a:spcPct val="110000"/>
              </a:lnSpc>
              <a:buNone/>
            </a:pPr>
            <a:r>
              <a:rPr lang="en-US" sz="1600"/>
              <a:t>duration (min)</a:t>
            </a:r>
          </a:p>
        </p:txBody>
      </p:sp>
      <p:pic>
        <p:nvPicPr>
          <p:cNvPr id="4" name="Picture 3">
            <a:extLst>
              <a:ext uri="{FF2B5EF4-FFF2-40B4-BE49-F238E27FC236}">
                <a16:creationId xmlns:a16="http://schemas.microsoft.com/office/drawing/2014/main" id="{1563E652-F0C7-260C-52C5-444A07FBC40F}"/>
              </a:ext>
            </a:extLst>
          </p:cNvPr>
          <p:cNvPicPr>
            <a:picLocks noChangeAspect="1"/>
          </p:cNvPicPr>
          <p:nvPr/>
        </p:nvPicPr>
        <p:blipFill>
          <a:blip r:embed="rId2"/>
          <a:stretch>
            <a:fillRect/>
          </a:stretch>
        </p:blipFill>
        <p:spPr>
          <a:xfrm>
            <a:off x="5745480" y="2437848"/>
            <a:ext cx="6446520" cy="1982304"/>
          </a:xfrm>
          <a:prstGeom prst="rect">
            <a:avLst/>
          </a:prstGeom>
          <a:noFill/>
        </p:spPr>
      </p:pic>
    </p:spTree>
    <p:extLst>
      <p:ext uri="{BB962C8B-B14F-4D97-AF65-F5344CB8AC3E}">
        <p14:creationId xmlns:p14="http://schemas.microsoft.com/office/powerpoint/2010/main" val="680821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756C4-E0C9-569D-AE68-57D27B6FC48A}"/>
              </a:ext>
            </a:extLst>
          </p:cNvPr>
          <p:cNvSpPr>
            <a:spLocks noGrp="1"/>
          </p:cNvSpPr>
          <p:nvPr>
            <p:ph type="title"/>
          </p:nvPr>
        </p:nvSpPr>
        <p:spPr>
          <a:xfrm>
            <a:off x="612648" y="548640"/>
            <a:ext cx="10653578" cy="1132258"/>
          </a:xfrm>
        </p:spPr>
        <p:txBody>
          <a:bodyPr anchor="t">
            <a:normAutofit/>
          </a:bodyPr>
          <a:lstStyle/>
          <a:p>
            <a:r>
              <a:rPr lang="en-US" dirty="0"/>
              <a:t>Methodology</a:t>
            </a:r>
          </a:p>
        </p:txBody>
      </p:sp>
      <p:graphicFrame>
        <p:nvGraphicFramePr>
          <p:cNvPr id="4" name="Content Placeholder 3">
            <a:extLst>
              <a:ext uri="{FF2B5EF4-FFF2-40B4-BE49-F238E27FC236}">
                <a16:creationId xmlns:a16="http://schemas.microsoft.com/office/drawing/2014/main" id="{9632CBA5-8D6C-24F7-C933-4A51CDD2ED5F}"/>
              </a:ext>
            </a:extLst>
          </p:cNvPr>
          <p:cNvGraphicFramePr>
            <a:graphicFrameLocks noGrp="1"/>
          </p:cNvGraphicFramePr>
          <p:nvPr>
            <p:ph idx="1"/>
            <p:extLst>
              <p:ext uri="{D42A27DB-BD31-4B8C-83A1-F6EECF244321}">
                <p14:modId xmlns:p14="http://schemas.microsoft.com/office/powerpoint/2010/main" val="575360863"/>
              </p:ext>
            </p:extLst>
          </p:nvPr>
        </p:nvGraphicFramePr>
        <p:xfrm>
          <a:off x="612647" y="1784628"/>
          <a:ext cx="10653579" cy="4455639"/>
        </p:xfrm>
        <a:graphic>
          <a:graphicData uri="http://schemas.openxmlformats.org/drawingml/2006/table">
            <a:tbl>
              <a:tblPr firstRow="1" bandRow="1">
                <a:tableStyleId>{00A15C55-8517-42AA-B614-E9B94910E393}</a:tableStyleId>
              </a:tblPr>
              <a:tblGrid>
                <a:gridCol w="4428678">
                  <a:extLst>
                    <a:ext uri="{9D8B030D-6E8A-4147-A177-3AD203B41FA5}">
                      <a16:colId xmlns:a16="http://schemas.microsoft.com/office/drawing/2014/main" val="893544561"/>
                    </a:ext>
                  </a:extLst>
                </a:gridCol>
                <a:gridCol w="6224901">
                  <a:extLst>
                    <a:ext uri="{9D8B030D-6E8A-4147-A177-3AD203B41FA5}">
                      <a16:colId xmlns:a16="http://schemas.microsoft.com/office/drawing/2014/main" val="2531911941"/>
                    </a:ext>
                  </a:extLst>
                </a:gridCol>
              </a:tblGrid>
              <a:tr h="453576">
                <a:tc>
                  <a:txBody>
                    <a:bodyPr/>
                    <a:lstStyle/>
                    <a:p>
                      <a:r>
                        <a:rPr lang="en-US" sz="2000"/>
                        <a:t>Step</a:t>
                      </a:r>
                    </a:p>
                  </a:txBody>
                  <a:tcPr marL="103331" marR="103331" marT="51666" marB="51666"/>
                </a:tc>
                <a:tc>
                  <a:txBody>
                    <a:bodyPr/>
                    <a:lstStyle/>
                    <a:p>
                      <a:r>
                        <a:rPr lang="en-US" sz="2000"/>
                        <a:t>Description</a:t>
                      </a:r>
                    </a:p>
                  </a:txBody>
                  <a:tcPr marL="103331" marR="103331" marT="51666" marB="51666"/>
                </a:tc>
                <a:extLst>
                  <a:ext uri="{0D108BD9-81ED-4DB2-BD59-A6C34878D82A}">
                    <a16:rowId xmlns:a16="http://schemas.microsoft.com/office/drawing/2014/main" val="3611370438"/>
                  </a:ext>
                </a:extLst>
              </a:tr>
              <a:tr h="1062697">
                <a:tc>
                  <a:txBody>
                    <a:bodyPr/>
                    <a:lstStyle/>
                    <a:p>
                      <a:r>
                        <a:rPr lang="en-US" sz="2000"/>
                        <a:t>Descriptive Analysis</a:t>
                      </a:r>
                    </a:p>
                  </a:txBody>
                  <a:tcPr marL="103331" marR="103331" marT="51666" marB="51666"/>
                </a:tc>
                <a:tc>
                  <a:txBody>
                    <a:bodyPr/>
                    <a:lstStyle/>
                    <a:p>
                      <a:r>
                        <a:rPr lang="en-US" sz="2000"/>
                        <a:t>Performed statistical analysis to summarize key aspects of the data, focusing on fare amount and payment type.</a:t>
                      </a:r>
                    </a:p>
                  </a:txBody>
                  <a:tcPr marL="103331" marR="103331" marT="51666" marB="51666"/>
                </a:tc>
                <a:extLst>
                  <a:ext uri="{0D108BD9-81ED-4DB2-BD59-A6C34878D82A}">
                    <a16:rowId xmlns:a16="http://schemas.microsoft.com/office/drawing/2014/main" val="3183776574"/>
                  </a:ext>
                </a:extLst>
              </a:tr>
              <a:tr h="1367257">
                <a:tc>
                  <a:txBody>
                    <a:bodyPr/>
                    <a:lstStyle/>
                    <a:p>
                      <a:r>
                        <a:rPr lang="en-US" sz="2000"/>
                        <a:t>Hypothesis Testing</a:t>
                      </a:r>
                    </a:p>
                  </a:txBody>
                  <a:tcPr marL="103331" marR="103331" marT="51666" marB="51666"/>
                </a:tc>
                <a:tc>
                  <a:txBody>
                    <a:bodyPr/>
                    <a:lstStyle/>
                    <a:p>
                      <a:r>
                        <a:rPr lang="en-US" sz="2000"/>
                        <a:t>Conducted a T-test to evaluate the relationship between payment type and fare amount, testing hypothesis that different payment methods influence fare amounts. </a:t>
                      </a:r>
                    </a:p>
                  </a:txBody>
                  <a:tcPr marL="103331" marR="103331" marT="51666" marB="51666"/>
                </a:tc>
                <a:extLst>
                  <a:ext uri="{0D108BD9-81ED-4DB2-BD59-A6C34878D82A}">
                    <a16:rowId xmlns:a16="http://schemas.microsoft.com/office/drawing/2014/main" val="12847905"/>
                  </a:ext>
                </a:extLst>
              </a:tr>
              <a:tr h="1062697">
                <a:tc>
                  <a:txBody>
                    <a:bodyPr/>
                    <a:lstStyle/>
                    <a:p>
                      <a:r>
                        <a:rPr lang="en-US" sz="2000"/>
                        <a:t>Regression Analysis</a:t>
                      </a:r>
                    </a:p>
                  </a:txBody>
                  <a:tcPr marL="103331" marR="103331" marT="51666" marB="51666"/>
                </a:tc>
                <a:tc>
                  <a:txBody>
                    <a:bodyPr/>
                    <a:lstStyle/>
                    <a:p>
                      <a:r>
                        <a:rPr lang="en-US" sz="2000"/>
                        <a:t>Implemented linear regression to explore the relationship between trip duration( calculated from pickup and drop-off times) and fare amount. </a:t>
                      </a:r>
                    </a:p>
                  </a:txBody>
                  <a:tcPr marL="103331" marR="103331" marT="51666" marB="51666"/>
                </a:tc>
                <a:extLst>
                  <a:ext uri="{0D108BD9-81ED-4DB2-BD59-A6C34878D82A}">
                    <a16:rowId xmlns:a16="http://schemas.microsoft.com/office/drawing/2014/main" val="4058675029"/>
                  </a:ext>
                </a:extLst>
              </a:tr>
              <a:tr h="509412">
                <a:tc>
                  <a:txBody>
                    <a:bodyPr/>
                    <a:lstStyle/>
                    <a:p>
                      <a:endParaRPr lang="en-US" sz="2000"/>
                    </a:p>
                  </a:txBody>
                  <a:tcPr marL="103331" marR="103331" marT="51666" marB="51666"/>
                </a:tc>
                <a:tc>
                  <a:txBody>
                    <a:bodyPr/>
                    <a:lstStyle/>
                    <a:p>
                      <a:endParaRPr lang="en-US" sz="2000"/>
                    </a:p>
                  </a:txBody>
                  <a:tcPr marL="103331" marR="103331" marT="51666" marB="51666"/>
                </a:tc>
                <a:extLst>
                  <a:ext uri="{0D108BD9-81ED-4DB2-BD59-A6C34878D82A}">
                    <a16:rowId xmlns:a16="http://schemas.microsoft.com/office/drawing/2014/main" val="712002750"/>
                  </a:ext>
                </a:extLst>
              </a:tr>
            </a:tbl>
          </a:graphicData>
        </a:graphic>
      </p:graphicFrame>
    </p:spTree>
    <p:extLst>
      <p:ext uri="{BB962C8B-B14F-4D97-AF65-F5344CB8AC3E}">
        <p14:creationId xmlns:p14="http://schemas.microsoft.com/office/powerpoint/2010/main" val="326372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6A400-5B49-5DD8-BED0-4D471C9E41BA}"/>
              </a:ext>
            </a:extLst>
          </p:cNvPr>
          <p:cNvSpPr>
            <a:spLocks noGrp="1"/>
          </p:cNvSpPr>
          <p:nvPr>
            <p:ph type="title"/>
          </p:nvPr>
        </p:nvSpPr>
        <p:spPr/>
        <p:txBody>
          <a:bodyPr/>
          <a:lstStyle/>
          <a:p>
            <a:r>
              <a:rPr lang="en-US" dirty="0"/>
              <a:t>Journey Insight</a:t>
            </a:r>
          </a:p>
        </p:txBody>
      </p:sp>
      <p:pic>
        <p:nvPicPr>
          <p:cNvPr id="6" name="Content Placeholder 5">
            <a:extLst>
              <a:ext uri="{FF2B5EF4-FFF2-40B4-BE49-F238E27FC236}">
                <a16:creationId xmlns:a16="http://schemas.microsoft.com/office/drawing/2014/main" id="{BBE8075B-2E61-0D8D-04A4-991B6A19BAEC}"/>
              </a:ext>
            </a:extLst>
          </p:cNvPr>
          <p:cNvPicPr>
            <a:picLocks noGrp="1" noChangeAspect="1"/>
          </p:cNvPicPr>
          <p:nvPr>
            <p:ph idx="1"/>
          </p:nvPr>
        </p:nvPicPr>
        <p:blipFill>
          <a:blip r:embed="rId2"/>
          <a:stretch>
            <a:fillRect/>
          </a:stretch>
        </p:blipFill>
        <p:spPr>
          <a:xfrm>
            <a:off x="7497598" y="3429000"/>
            <a:ext cx="4559300" cy="2057400"/>
          </a:xfrm>
          <a:prstGeom prst="rect">
            <a:avLst/>
          </a:prstGeom>
        </p:spPr>
      </p:pic>
      <p:pic>
        <p:nvPicPr>
          <p:cNvPr id="4" name="Picture 3">
            <a:extLst>
              <a:ext uri="{FF2B5EF4-FFF2-40B4-BE49-F238E27FC236}">
                <a16:creationId xmlns:a16="http://schemas.microsoft.com/office/drawing/2014/main" id="{F60F6C62-1E88-E4D8-F7CD-895953DEB0F9}"/>
              </a:ext>
            </a:extLst>
          </p:cNvPr>
          <p:cNvPicPr>
            <a:picLocks noChangeAspect="1"/>
          </p:cNvPicPr>
          <p:nvPr/>
        </p:nvPicPr>
        <p:blipFill>
          <a:blip r:embed="rId3"/>
          <a:stretch>
            <a:fillRect/>
          </a:stretch>
        </p:blipFill>
        <p:spPr>
          <a:xfrm>
            <a:off x="378371" y="3220760"/>
            <a:ext cx="3653659" cy="2875900"/>
          </a:xfrm>
          <a:prstGeom prst="rect">
            <a:avLst/>
          </a:prstGeom>
        </p:spPr>
      </p:pic>
      <p:pic>
        <p:nvPicPr>
          <p:cNvPr id="5" name="Picture 4">
            <a:extLst>
              <a:ext uri="{FF2B5EF4-FFF2-40B4-BE49-F238E27FC236}">
                <a16:creationId xmlns:a16="http://schemas.microsoft.com/office/drawing/2014/main" id="{27352727-217B-1FDF-3690-DC469B513522}"/>
              </a:ext>
            </a:extLst>
          </p:cNvPr>
          <p:cNvPicPr>
            <a:picLocks noChangeAspect="1"/>
          </p:cNvPicPr>
          <p:nvPr/>
        </p:nvPicPr>
        <p:blipFill>
          <a:blip r:embed="rId4"/>
          <a:stretch>
            <a:fillRect/>
          </a:stretch>
        </p:blipFill>
        <p:spPr>
          <a:xfrm>
            <a:off x="3832115" y="3125185"/>
            <a:ext cx="3733800" cy="3067050"/>
          </a:xfrm>
          <a:prstGeom prst="rect">
            <a:avLst/>
          </a:prstGeom>
        </p:spPr>
      </p:pic>
      <p:sp>
        <p:nvSpPr>
          <p:cNvPr id="9" name="TextBox 8">
            <a:extLst>
              <a:ext uri="{FF2B5EF4-FFF2-40B4-BE49-F238E27FC236}">
                <a16:creationId xmlns:a16="http://schemas.microsoft.com/office/drawing/2014/main" id="{DFC7A3AA-6E3C-FF92-A0D6-70C4B0929252}"/>
              </a:ext>
            </a:extLst>
          </p:cNvPr>
          <p:cNvSpPr txBox="1"/>
          <p:nvPr/>
        </p:nvSpPr>
        <p:spPr>
          <a:xfrm>
            <a:off x="612648" y="1245477"/>
            <a:ext cx="10966704" cy="1200329"/>
          </a:xfrm>
          <a:prstGeom prst="rect">
            <a:avLst/>
          </a:prstGeom>
          <a:noFill/>
        </p:spPr>
        <p:txBody>
          <a:bodyPr wrap="square" rtlCol="0">
            <a:spAutoFit/>
          </a:bodyPr>
          <a:lstStyle/>
          <a:p>
            <a:r>
              <a:rPr lang="en-US" dirty="0"/>
              <a:t>-Consumers paying with card tend to have higher fare amount and longer trip distance as compared to consumers paying with cash. </a:t>
            </a:r>
          </a:p>
          <a:p>
            <a:r>
              <a:rPr lang="en-US" dirty="0"/>
              <a:t>- This indicates consumers prefer card usage for longer distance and higher fare. </a:t>
            </a:r>
          </a:p>
          <a:p>
            <a:r>
              <a:rPr lang="en-US" dirty="0"/>
              <a:t> </a:t>
            </a:r>
          </a:p>
        </p:txBody>
      </p:sp>
    </p:spTree>
    <p:extLst>
      <p:ext uri="{BB962C8B-B14F-4D97-AF65-F5344CB8AC3E}">
        <p14:creationId xmlns:p14="http://schemas.microsoft.com/office/powerpoint/2010/main" val="1687381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C1BA3-3A40-64CC-F2CB-C8D45C3C6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E82B5-B35F-B74F-A2F3-02635273096D}"/>
              </a:ext>
            </a:extLst>
          </p:cNvPr>
          <p:cNvSpPr>
            <a:spLocks noGrp="1"/>
          </p:cNvSpPr>
          <p:nvPr>
            <p:ph type="title"/>
          </p:nvPr>
        </p:nvSpPr>
        <p:spPr>
          <a:xfrm>
            <a:off x="612648" y="583413"/>
            <a:ext cx="3401568" cy="1527048"/>
          </a:xfrm>
        </p:spPr>
        <p:txBody>
          <a:bodyPr anchor="b">
            <a:normAutofit/>
          </a:bodyPr>
          <a:lstStyle/>
          <a:p>
            <a:r>
              <a:rPr lang="en-US" dirty="0"/>
              <a:t>Journey Insight</a:t>
            </a:r>
          </a:p>
        </p:txBody>
      </p:sp>
      <p:sp>
        <p:nvSpPr>
          <p:cNvPr id="9" name="Content Placeholder 8">
            <a:extLst>
              <a:ext uri="{FF2B5EF4-FFF2-40B4-BE49-F238E27FC236}">
                <a16:creationId xmlns:a16="http://schemas.microsoft.com/office/drawing/2014/main" id="{9808D408-870D-12E8-12AE-97C309937DC3}"/>
              </a:ext>
            </a:extLst>
          </p:cNvPr>
          <p:cNvSpPr>
            <a:spLocks noGrp="1"/>
          </p:cNvSpPr>
          <p:nvPr>
            <p:ph sz="quarter" idx="14"/>
          </p:nvPr>
        </p:nvSpPr>
        <p:spPr>
          <a:xfrm>
            <a:off x="612775" y="2212975"/>
            <a:ext cx="3401568" cy="4095750"/>
          </a:xfrm>
        </p:spPr>
        <p:txBody>
          <a:bodyPr>
            <a:normAutofit/>
          </a:bodyPr>
          <a:lstStyle/>
          <a:p>
            <a:pPr>
              <a:lnSpc>
                <a:spcPct val="110000"/>
              </a:lnSpc>
            </a:pPr>
            <a:r>
              <a:rPr lang="en-US" sz="1900"/>
              <a:t>The proportion of consumers paying with card is significantly higher i.e. 65% as compared to paying with cash i.e. 40%. </a:t>
            </a:r>
          </a:p>
          <a:p>
            <a:pPr>
              <a:lnSpc>
                <a:spcPct val="110000"/>
              </a:lnSpc>
            </a:pPr>
            <a:r>
              <a:rPr lang="en-US" sz="1900"/>
              <a:t>This indicated consumers prefer card over cash due to use now pay later payment mode, incentivize in card payment with some cashback and discounts. </a:t>
            </a:r>
          </a:p>
          <a:p>
            <a:pPr>
              <a:lnSpc>
                <a:spcPct val="110000"/>
              </a:lnSpc>
            </a:pPr>
            <a:endParaRPr lang="en-US" sz="1900"/>
          </a:p>
        </p:txBody>
      </p:sp>
      <p:pic>
        <p:nvPicPr>
          <p:cNvPr id="7" name="Picture 6">
            <a:extLst>
              <a:ext uri="{FF2B5EF4-FFF2-40B4-BE49-F238E27FC236}">
                <a16:creationId xmlns:a16="http://schemas.microsoft.com/office/drawing/2014/main" id="{6421D450-A0FF-49FB-F439-B7B48D18AD53}"/>
              </a:ext>
            </a:extLst>
          </p:cNvPr>
          <p:cNvPicPr>
            <a:picLocks noChangeAspect="1"/>
          </p:cNvPicPr>
          <p:nvPr/>
        </p:nvPicPr>
        <p:blipFill>
          <a:blip r:embed="rId2"/>
          <a:stretch>
            <a:fillRect/>
          </a:stretch>
        </p:blipFill>
        <p:spPr>
          <a:xfrm>
            <a:off x="4761780" y="299021"/>
            <a:ext cx="7430219" cy="6259958"/>
          </a:xfrm>
          <a:prstGeom prst="rect">
            <a:avLst/>
          </a:prstGeom>
          <a:noFill/>
        </p:spPr>
      </p:pic>
    </p:spTree>
    <p:extLst>
      <p:ext uri="{BB962C8B-B14F-4D97-AF65-F5344CB8AC3E}">
        <p14:creationId xmlns:p14="http://schemas.microsoft.com/office/powerpoint/2010/main" val="1009628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60114-3C7F-BD01-1669-064078F02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9F1895-0982-DBB1-C781-8E824A542212}"/>
              </a:ext>
            </a:extLst>
          </p:cNvPr>
          <p:cNvSpPr>
            <a:spLocks noGrp="1"/>
          </p:cNvSpPr>
          <p:nvPr>
            <p:ph type="title"/>
          </p:nvPr>
        </p:nvSpPr>
        <p:spPr>
          <a:xfrm>
            <a:off x="612648" y="320040"/>
            <a:ext cx="4572000" cy="932688"/>
          </a:xfrm>
        </p:spPr>
        <p:txBody>
          <a:bodyPr anchor="b">
            <a:normAutofit/>
          </a:bodyPr>
          <a:lstStyle/>
          <a:p>
            <a:r>
              <a:rPr lang="en-US" sz="3000"/>
              <a:t>Passenger count analysis </a:t>
            </a:r>
          </a:p>
        </p:txBody>
      </p:sp>
      <p:sp>
        <p:nvSpPr>
          <p:cNvPr id="9" name="Content Placeholder 8">
            <a:extLst>
              <a:ext uri="{FF2B5EF4-FFF2-40B4-BE49-F238E27FC236}">
                <a16:creationId xmlns:a16="http://schemas.microsoft.com/office/drawing/2014/main" id="{218841F5-27D7-C054-A542-89AFDFA436DD}"/>
              </a:ext>
            </a:extLst>
          </p:cNvPr>
          <p:cNvSpPr>
            <a:spLocks noGrp="1"/>
          </p:cNvSpPr>
          <p:nvPr>
            <p:ph sz="quarter" idx="14"/>
          </p:nvPr>
        </p:nvSpPr>
        <p:spPr>
          <a:xfrm>
            <a:off x="612774" y="1380744"/>
            <a:ext cx="4572000" cy="4983480"/>
          </a:xfrm>
        </p:spPr>
        <p:txBody>
          <a:bodyPr>
            <a:normAutofit/>
          </a:bodyPr>
          <a:lstStyle/>
          <a:p>
            <a:pPr>
              <a:lnSpc>
                <a:spcPct val="110000"/>
              </a:lnSpc>
            </a:pPr>
            <a:r>
              <a:rPr lang="en-US" sz="1400"/>
              <a:t>Consumers tend to use card more when they travel alone as compared to cash. </a:t>
            </a:r>
          </a:p>
          <a:p>
            <a:pPr>
              <a:lnSpc>
                <a:spcPct val="110000"/>
              </a:lnSpc>
            </a:pPr>
            <a:r>
              <a:rPr lang="en-US" sz="1400"/>
              <a:t>Cash payment helps when the consumers are travelling in group for pay now then later</a:t>
            </a:r>
          </a:p>
          <a:p>
            <a:pPr>
              <a:lnSpc>
                <a:spcPct val="110000"/>
              </a:lnSpc>
            </a:pPr>
            <a:r>
              <a:rPr lang="en-US" sz="1400"/>
              <a:t>Solo taxi riders uses more of card or cash then riders in group. </a:t>
            </a:r>
          </a:p>
          <a:p>
            <a:pPr>
              <a:lnSpc>
                <a:spcPct val="110000"/>
              </a:lnSpc>
            </a:pPr>
            <a:r>
              <a:rPr lang="en-US" sz="1400"/>
              <a:t>There is a noticeable decline in the proportion of transactions as the number of passengers increases, this indicates that either larger groups are using less taxi rides or they are using some alternative payment methods other than card and cash </a:t>
            </a:r>
          </a:p>
          <a:p>
            <a:pPr>
              <a:lnSpc>
                <a:spcPct val="110000"/>
              </a:lnSpc>
            </a:pPr>
            <a:r>
              <a:rPr lang="en-US" sz="1400"/>
              <a:t>This insight provide valuable information if both passenger count and payment type is considered when analysing transaction data as they provide insights into consumers behavior and preference.</a:t>
            </a:r>
          </a:p>
          <a:p>
            <a:pPr marL="0" indent="0">
              <a:lnSpc>
                <a:spcPct val="110000"/>
              </a:lnSpc>
              <a:buNone/>
            </a:pPr>
            <a:endParaRPr lang="en-US" sz="1400"/>
          </a:p>
          <a:p>
            <a:pPr>
              <a:lnSpc>
                <a:spcPct val="110000"/>
              </a:lnSpc>
            </a:pPr>
            <a:endParaRPr lang="en-US" sz="1400"/>
          </a:p>
          <a:p>
            <a:pPr>
              <a:lnSpc>
                <a:spcPct val="110000"/>
              </a:lnSpc>
            </a:pPr>
            <a:endParaRPr lang="en-US" sz="1400"/>
          </a:p>
        </p:txBody>
      </p:sp>
      <p:pic>
        <p:nvPicPr>
          <p:cNvPr id="4" name="Picture 3">
            <a:extLst>
              <a:ext uri="{FF2B5EF4-FFF2-40B4-BE49-F238E27FC236}">
                <a16:creationId xmlns:a16="http://schemas.microsoft.com/office/drawing/2014/main" id="{B6FCFC10-59DC-5D9D-CBFF-7373F287732C}"/>
              </a:ext>
            </a:extLst>
          </p:cNvPr>
          <p:cNvPicPr>
            <a:picLocks noChangeAspect="1"/>
          </p:cNvPicPr>
          <p:nvPr/>
        </p:nvPicPr>
        <p:blipFill>
          <a:blip r:embed="rId2"/>
          <a:stretch>
            <a:fillRect/>
          </a:stretch>
        </p:blipFill>
        <p:spPr>
          <a:xfrm>
            <a:off x="5917720" y="1272217"/>
            <a:ext cx="6274279" cy="4313566"/>
          </a:xfrm>
          <a:prstGeom prst="rect">
            <a:avLst/>
          </a:prstGeom>
          <a:noFill/>
        </p:spPr>
      </p:pic>
    </p:spTree>
    <p:extLst>
      <p:ext uri="{BB962C8B-B14F-4D97-AF65-F5344CB8AC3E}">
        <p14:creationId xmlns:p14="http://schemas.microsoft.com/office/powerpoint/2010/main" val="713659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B3A63-16A3-8132-1C5E-03775A97B621}"/>
              </a:ext>
            </a:extLst>
          </p:cNvPr>
          <p:cNvSpPr>
            <a:spLocks noGrp="1"/>
          </p:cNvSpPr>
          <p:nvPr>
            <p:ph type="title"/>
          </p:nvPr>
        </p:nvSpPr>
        <p:spPr>
          <a:xfrm>
            <a:off x="612648" y="583413"/>
            <a:ext cx="4361688" cy="1527048"/>
          </a:xfrm>
        </p:spPr>
        <p:txBody>
          <a:bodyPr anchor="b">
            <a:normAutofit/>
          </a:bodyPr>
          <a:lstStyle/>
          <a:p>
            <a:r>
              <a:rPr lang="en-US" dirty="0"/>
              <a:t>Hypothesis Testing</a:t>
            </a:r>
          </a:p>
        </p:txBody>
      </p:sp>
      <p:sp>
        <p:nvSpPr>
          <p:cNvPr id="3" name="Content Placeholder 2">
            <a:extLst>
              <a:ext uri="{FF2B5EF4-FFF2-40B4-BE49-F238E27FC236}">
                <a16:creationId xmlns:a16="http://schemas.microsoft.com/office/drawing/2014/main" id="{926D3F99-1A3F-3584-165D-544484A1AC37}"/>
              </a:ext>
            </a:extLst>
          </p:cNvPr>
          <p:cNvSpPr>
            <a:spLocks noGrp="1"/>
          </p:cNvSpPr>
          <p:nvPr>
            <p:ph sz="quarter" idx="14"/>
          </p:nvPr>
        </p:nvSpPr>
        <p:spPr>
          <a:xfrm>
            <a:off x="612775" y="2212975"/>
            <a:ext cx="4360863" cy="4095750"/>
          </a:xfrm>
        </p:spPr>
        <p:txBody>
          <a:bodyPr>
            <a:normAutofit fontScale="85000" lnSpcReduction="10000"/>
          </a:bodyPr>
          <a:lstStyle/>
          <a:p>
            <a:pPr marL="0" indent="0">
              <a:buNone/>
            </a:pPr>
            <a:r>
              <a:rPr lang="en-US" b="1" dirty="0"/>
              <a:t>Null Hypothesis: </a:t>
            </a:r>
            <a:r>
              <a:rPr lang="en-US" dirty="0"/>
              <a:t>There</a:t>
            </a:r>
            <a:r>
              <a:rPr lang="en-US" b="1" dirty="0"/>
              <a:t> </a:t>
            </a:r>
            <a:r>
              <a:rPr lang="en-US" dirty="0"/>
              <a:t>is no difference in the average fare between customers who pay with a credit card or cash</a:t>
            </a:r>
          </a:p>
          <a:p>
            <a:pPr marL="0" indent="0">
              <a:buNone/>
            </a:pPr>
            <a:r>
              <a:rPr lang="en-US" b="1" dirty="0"/>
              <a:t>Alternative Hypothesis: </a:t>
            </a:r>
            <a:r>
              <a:rPr lang="en-US" dirty="0"/>
              <a:t>There is a difference in the average fare between customers who pay with a credit card or cash</a:t>
            </a:r>
          </a:p>
          <a:p>
            <a:pPr marL="0" indent="0">
              <a:buNone/>
            </a:pPr>
            <a:r>
              <a:rPr lang="en-US" dirty="0"/>
              <a:t>With a T-statistics of 165.5 and a P-value of less than 0.05, we reject null hypothesis, suggesting there is indeed a significant difference in average fare between the two payment methods. </a:t>
            </a:r>
          </a:p>
          <a:p>
            <a:pPr marL="0" indent="0">
              <a:buNone/>
            </a:pPr>
            <a:endParaRPr lang="en-US" dirty="0"/>
          </a:p>
        </p:txBody>
      </p:sp>
      <p:pic>
        <p:nvPicPr>
          <p:cNvPr id="5" name="Picture 4">
            <a:extLst>
              <a:ext uri="{FF2B5EF4-FFF2-40B4-BE49-F238E27FC236}">
                <a16:creationId xmlns:a16="http://schemas.microsoft.com/office/drawing/2014/main" id="{9F167348-6ECB-FB28-CAED-B24919DB417C}"/>
              </a:ext>
            </a:extLst>
          </p:cNvPr>
          <p:cNvPicPr>
            <a:picLocks noChangeAspect="1"/>
          </p:cNvPicPr>
          <p:nvPr/>
        </p:nvPicPr>
        <p:blipFill>
          <a:blip r:embed="rId2"/>
          <a:srcRect l="12583" r="34542"/>
          <a:stretch>
            <a:fillRect/>
          </a:stretch>
        </p:blipFill>
        <p:spPr>
          <a:xfrm>
            <a:off x="5745480" y="10"/>
            <a:ext cx="6446520" cy="6857990"/>
          </a:xfrm>
          <a:prstGeom prst="rect">
            <a:avLst/>
          </a:prstGeom>
          <a:noFill/>
        </p:spPr>
      </p:pic>
    </p:spTree>
    <p:extLst>
      <p:ext uri="{BB962C8B-B14F-4D97-AF65-F5344CB8AC3E}">
        <p14:creationId xmlns:p14="http://schemas.microsoft.com/office/powerpoint/2010/main" val="2010819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9ADC0-FA8C-F7DA-684F-502141B84BC2}"/>
              </a:ext>
            </a:extLst>
          </p:cNvPr>
          <p:cNvSpPr>
            <a:spLocks noGrp="1"/>
          </p:cNvSpPr>
          <p:nvPr>
            <p:ph type="title"/>
          </p:nvPr>
        </p:nvSpPr>
        <p:spPr>
          <a:xfrm>
            <a:off x="614676" y="1847088"/>
            <a:ext cx="10888473" cy="1133856"/>
          </a:xfrm>
        </p:spPr>
        <p:txBody>
          <a:bodyPr anchor="b">
            <a:normAutofit/>
          </a:bodyPr>
          <a:lstStyle/>
          <a:p>
            <a:r>
              <a:rPr lang="en-US" dirty="0"/>
              <a:t>Recommendations</a:t>
            </a:r>
          </a:p>
        </p:txBody>
      </p:sp>
      <p:graphicFrame>
        <p:nvGraphicFramePr>
          <p:cNvPr id="5" name="Content Placeholder 2">
            <a:extLst>
              <a:ext uri="{FF2B5EF4-FFF2-40B4-BE49-F238E27FC236}">
                <a16:creationId xmlns:a16="http://schemas.microsoft.com/office/drawing/2014/main" id="{36AC0273-6159-21A7-713D-5C7B780BEE4F}"/>
              </a:ext>
            </a:extLst>
          </p:cNvPr>
          <p:cNvGraphicFramePr>
            <a:graphicFrameLocks noGrp="1"/>
          </p:cNvGraphicFramePr>
          <p:nvPr>
            <p:ph sz="quarter" idx="13"/>
            <p:extLst>
              <p:ext uri="{D42A27DB-BD31-4B8C-83A1-F6EECF244321}">
                <p14:modId xmlns:p14="http://schemas.microsoft.com/office/powerpoint/2010/main" val="525182452"/>
              </p:ext>
            </p:extLst>
          </p:nvPr>
        </p:nvGraphicFramePr>
        <p:xfrm>
          <a:off x="612775" y="3594099"/>
          <a:ext cx="10890374" cy="274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0144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8B55-CA7A-3984-3171-A3081C88B9C9}"/>
              </a:ext>
            </a:extLst>
          </p:cNvPr>
          <p:cNvSpPr>
            <a:spLocks noGrp="1"/>
          </p:cNvSpPr>
          <p:nvPr>
            <p:ph type="ctrTitle"/>
          </p:nvPr>
        </p:nvSpPr>
        <p:spPr>
          <a:xfrm>
            <a:off x="274320" y="1801368"/>
            <a:ext cx="7772400" cy="4572000"/>
          </a:xfrm>
        </p:spPr>
        <p:txBody>
          <a:bodyPr anchor="b">
            <a:normAutofit/>
          </a:bodyPr>
          <a:lstStyle/>
          <a:p>
            <a:r>
              <a:rPr lang="en-US" dirty="0"/>
              <a:t>Thank you</a:t>
            </a:r>
            <a:endParaRPr lang="en-US"/>
          </a:p>
        </p:txBody>
      </p:sp>
    </p:spTree>
    <p:extLst>
      <p:ext uri="{BB962C8B-B14F-4D97-AF65-F5344CB8AC3E}">
        <p14:creationId xmlns:p14="http://schemas.microsoft.com/office/powerpoint/2010/main" val="1977980473"/>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docProps/app.xml><?xml version="1.0" encoding="utf-8"?>
<Properties xmlns="http://schemas.openxmlformats.org/officeDocument/2006/extended-properties" xmlns:vt="http://schemas.openxmlformats.org/officeDocument/2006/docPropsVTypes">
  <TotalTime>1351</TotalTime>
  <Words>702</Words>
  <Application>Microsoft Macintosh PowerPoint</Application>
  <PresentationFormat>Widescreen</PresentationFormat>
  <Paragraphs>65</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Neue Haas Grotesk Text Pro</vt:lpstr>
      <vt:lpstr>Helena</vt:lpstr>
      <vt:lpstr>Maximizing Revenue For Drivers- Payment Type</vt:lpstr>
      <vt:lpstr>Agenda</vt:lpstr>
      <vt:lpstr>Problem Statement</vt:lpstr>
      <vt:lpstr>Objective</vt:lpstr>
      <vt:lpstr>Research Question</vt:lpstr>
      <vt:lpstr>Data Overview</vt:lpstr>
      <vt:lpstr>Methodology</vt:lpstr>
      <vt:lpstr>Journey Insight</vt:lpstr>
      <vt:lpstr>Journey Insight</vt:lpstr>
      <vt:lpstr>Passenger count analysis </vt:lpstr>
      <vt:lpstr>Hypothesis Testing</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jagriti verma</dc:creator>
  <cp:lastModifiedBy>jagriti verma</cp:lastModifiedBy>
  <cp:revision>10</cp:revision>
  <dcterms:created xsi:type="dcterms:W3CDTF">2025-11-03T06:25:28Z</dcterms:created>
  <dcterms:modified xsi:type="dcterms:W3CDTF">2025-11-06T21:13:18Z</dcterms:modified>
</cp:coreProperties>
</file>